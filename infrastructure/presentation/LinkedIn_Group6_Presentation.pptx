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001B48"/>
                </a:solidFill>
              </a:defRPr>
            </a:pPr>
            <a:r>
              <a:t>Throughput (TPS) — with optimizations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Transactions/sec</c:v>
                </c:pt>
              </c:strCache>
            </c:strRef>
          </c:tx>
          <c:dPt>
            <c:idx val="0"/>
            <c:spPr>
              <a:solidFill>
                <a:srgbClr val="057A55"/>
              </a:solidFill>
            </c:spPr>
          </c:dPt>
          <c:dPt>
            <c:idx val="1"/>
            <c:spPr>
              <a:solidFill>
                <a:srgbClr val="0A66C2"/>
              </a:solidFill>
            </c:spPr>
          </c:dPt>
          <c:dPt>
            <c:idx val="2"/>
            <c:spPr>
              <a:solidFill>
                <a:srgbClr val="E86A23"/>
              </a:solidFill>
            </c:spPr>
          </c:dPt>
          <c:cat>
            <c:strRef>
              <c:f>Sheet1!$A$2:$A$4</c:f>
              <c:strCache>
                <c:ptCount val="3"/>
                <c:pt idx="0">
                  <c:v>B+S
(+Redis)</c:v>
                </c:pt>
                <c:pt idx="1">
                  <c:v>B+S+K
(+Kafka)</c:v>
                </c:pt>
                <c:pt idx="2">
                  <c:v>B+S+K+X
(+Auth+FTS)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101.9</c:v>
                </c:pt>
                <c:pt idx="1">
                  <c:v>101.8</c:v>
                </c:pt>
                <c:pt idx="2">
                  <c:v>101.6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001B48"/>
                </a:solidFill>
              </a:defRPr>
            </a:pPr>
            <a:r>
              <a:t>Avg Latency (ms) — with optimizations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(ms)</c:v>
                </c:pt>
              </c:strCache>
            </c:strRef>
          </c:tx>
          <c:dPt>
            <c:idx val="0"/>
            <c:spPr>
              <a:solidFill>
                <a:srgbClr val="057A55"/>
              </a:solidFill>
            </c:spPr>
          </c:dPt>
          <c:dPt>
            <c:idx val="1"/>
            <c:spPr>
              <a:solidFill>
                <a:srgbClr val="0A66C2"/>
              </a:solidFill>
            </c:spPr>
          </c:dPt>
          <c:dPt>
            <c:idx val="2"/>
            <c:spPr>
              <a:solidFill>
                <a:srgbClr val="E86A23"/>
              </a:solidFill>
            </c:spPr>
          </c:dPt>
          <c:cat>
            <c:strRef>
              <c:f>Sheet1!$A$2:$A$4</c:f>
              <c:strCache>
                <c:ptCount val="3"/>
                <c:pt idx="0">
                  <c:v>B+S
(+Redis)</c:v>
                </c:pt>
                <c:pt idx="1">
                  <c:v>B+S+K
(+Kafka)</c:v>
                </c:pt>
                <c:pt idx="2">
                  <c:v>B+S+K+X
(+Auth+FTS)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1B48"/>
                </a:solidFill>
              </a:defRPr>
            </a:pPr>
            <a:r>
              <a:t>Throughput (TPS) vs Concurrency ↑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(TPS)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10 users</c:v>
                </c:pt>
                <c:pt idx="1">
                  <c:v>25 users</c:v>
                </c:pt>
                <c:pt idx="2">
                  <c:v>50 users</c:v>
                </c:pt>
                <c:pt idx="3">
                  <c:v>100 users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18.7</c:v>
                </c:pt>
                <c:pt idx="1">
                  <c:v>43.9</c:v>
                </c:pt>
                <c:pt idx="2">
                  <c:v>85.9</c:v>
                </c:pt>
                <c:pt idx="3">
                  <c:v>170.6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001B48"/>
                </a:solidFill>
              </a:defRPr>
            </a:pPr>
            <a:r>
              <a:t>P90 vs P99 Latency (ms) — optimized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P90 (ms)</c:v>
                </c:pt>
              </c:strCache>
            </c:strRef>
          </c:tx>
          <c:spPr>
            <a:solidFill>
              <a:srgbClr val="0A66C2"/>
            </a:solidFill>
          </c:spPr>
          <c:cat>
            <c:strRef>
              <c:f>Sheet1!$A$2:$A$4</c:f>
              <c:strCache>
                <c:ptCount val="3"/>
                <c:pt idx="0">
                  <c:v>B+S
(+Redis)</c:v>
                </c:pt>
                <c:pt idx="1">
                  <c:v>B+S+K
(+Kafka)</c:v>
                </c:pt>
                <c:pt idx="2">
                  <c:v>B+S+K+X
(+Auth)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P99 (ms)</c:v>
                </c:pt>
              </c:strCache>
            </c:strRef>
          </c:tx>
          <c:spPr>
            <a:solidFill>
              <a:srgbClr val="E86A23"/>
            </a:solidFill>
          </c:spPr>
          <c:cat>
            <c:strRef>
              <c:f>Sheet1!$A$2:$A$4</c:f>
              <c:strCache>
                <c:ptCount val="3"/>
                <c:pt idx="0">
                  <c:v>B+S
(+Redis)</c:v>
                </c:pt>
                <c:pt idx="1">
                  <c:v>B+S+K
(+Kafka)</c:v>
                </c:pt>
                <c:pt idx="2">
                  <c:v>B+S+K+X
(+Auth)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24</c:v>
                </c:pt>
                <c:pt idx="2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097280"/>
            <a:ext cx="2011680" cy="2011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04320" y="274320"/>
            <a:ext cx="1463040" cy="1463040"/>
          </a:xfrm>
          <a:prstGeom prst="ellipse">
            <a:avLst/>
          </a:prstGeom>
          <a:solidFill>
            <a:srgbClr val="70B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5943600"/>
            <a:ext cx="1097280" cy="10972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0A66C2"/>
                </a:solidFill>
              </a:rP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LinkedIn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31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0B5F9"/>
                </a:solidFill>
              </a:rPr>
              <a:t>Scalable Microservices Architecture with AI Orchestration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3017520"/>
            <a:ext cx="868680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Group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B5F9"/>
                </a:solidFill>
              </a:rPr>
              <a:t>Dipin Jassal  ·  Sarvesh Reshimwale  ·  Sammruddhi  ·  Anushka Khadatkar  ·  Rajesh  ·  Bhavya  ·  Shashira  ·  Nikhil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DATA 236 – Advanced Database Systems  ·  Spring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0B5F9"/>
                </a:solidFill>
              </a:rPr>
              <a:t>78,985 jobs  ·  10,000+ members  ·  8 microservices  ·  14 Kafka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 · Group &amp; Team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1792" y="161848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6733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8775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Dipin Jassal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32588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32588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161848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16733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8775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Sarvesh Reshimwale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32588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161848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6733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8775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Sammruddhi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32588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32588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62872" y="161848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2872" y="16733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258775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Anushka Khadatkar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42900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42900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1792" y="372160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377647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908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Rajesh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42900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46120" y="342900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02152" y="372160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02152" y="377647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46908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Bhavya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42900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342900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82512" y="372160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377647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6908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Shashira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342900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06840" y="342900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62872" y="372160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62872" y="377647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19" y="46908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Nikhil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172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PROJECT:  LinkedIn-Like Professional Network  ·  Microservices + AI Orchestration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 · 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MySQL (transactional) + MongoDB (document) + Redis (cache)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3749039" cy="166420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61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▪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7276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member_id (PK)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9222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first_name, last_name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01168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email (UNIQUE)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3113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headline, about_summary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450591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experience_json, education_json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71800"/>
            <a:ext cx="3749039" cy="1664208"/>
          </a:xfrm>
          <a:prstGeom prst="rect">
            <a:avLst/>
          </a:prstGeom>
          <a:solidFill>
            <a:srgbClr val="05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44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▪ job_postings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35584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job_id (PK, CHAR 36)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575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company_id, recruiter_id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9476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title,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014215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employment_type, 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3367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remote ENUM(onsite/remote/hybrid)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754880"/>
            <a:ext cx="3749039" cy="1664208"/>
          </a:xfrm>
          <a:prstGeom prst="rect">
            <a:avLst/>
          </a:prstGeom>
          <a:solidFill>
            <a:srgbClr val="024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828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▪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1389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application_id (PK, UUID)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35838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job_id → job_postings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7784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member_id → members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79729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resume_file_name, resume_file_path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01675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cover_letter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1188720"/>
            <a:ext cx="3291840" cy="1664208"/>
          </a:xfrm>
          <a:prstGeom prst="rect">
            <a:avLst/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1261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saved_jobs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15727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user_id (PK)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179222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job_id (PK)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20116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saved_at DATETIME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223113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INDEX(user_id), INDEX(job_id)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2971800"/>
            <a:ext cx="3291840" cy="1664208"/>
          </a:xfrm>
          <a:prstGeom prst="rect">
            <a:avLst/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2" y="3044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connections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335584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connection_id (PK)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357530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requester_id, receiver_id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2" y="379476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status ENUM(pending/accepted/rejected)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2" y="4014215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UNIQUE(requester_id, receiver_id)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0832" y="4233672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INDEX(requester), INDEX(receiver)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4754880"/>
            <a:ext cx="3291840" cy="1664208"/>
          </a:xfrm>
          <a:prstGeom prst="rect">
            <a:avLst/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0832" y="4828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processed_events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2" y="513892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idempotency_key (PK)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2" y="535838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event_type, trace_id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557784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entity_type, entity_id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0832" y="579729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processed_at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0832" y="6016752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Kafka at-least-once dedup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1188720"/>
            <a:ext cx="4160520" cy="16642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12618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MongoDB: analytics.events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157276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idempotency_key (dedup)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179222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event_type, trace_id, actor_id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20116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entity_type, entity_id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7" y="2231136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payload (flexible JSON)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82127" y="2450591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14 Kafka topics ingested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7" y="267004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_topic, _ingested_at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2971800"/>
            <a:ext cx="4160520" cy="1664208"/>
          </a:xfrm>
          <a:prstGeom prst="rect">
            <a:avLst/>
          </a:prstGeom>
          <a:solidFill>
            <a:srgbClr val="03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82127" y="30449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MongoDB: messaging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2127" y="335584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threads: thread_id, participants[]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2127" y="357530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last_message_at, message_count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82127" y="379476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messages: message_id, thread_id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82127" y="4014215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sender_id, message_text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82127" y="423367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status ENUM(sent/delivered/read)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82127" y="445312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idempotency_key (dedup)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4754880"/>
            <a:ext cx="4160520" cy="1664208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82127" y="48280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Redis Cache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82127" y="513892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search results → TTL 60 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82127" y="535838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job detail → TTL 10 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82127" y="557784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Key: search:{sha256(params)}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82127" y="5797296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Key: job:{job_id}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82127" y="601675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Invalidated on: job update/close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82127" y="623620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Reduces MySQL load by ~75%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 · System Architecture Design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8 microservices · 3 databases · Redis cache · Kafka event bus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143000"/>
            <a:ext cx="914400" cy="25603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1430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CLIENT
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1143000"/>
            <a:ext cx="914400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1430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API
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1143000"/>
            <a:ext cx="5303520" cy="25603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39" y="11430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MICROSERVICES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143000"/>
            <a:ext cx="2148840" cy="25603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1430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MESSAGING
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1143000"/>
            <a:ext cx="1920240" cy="256032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95560" y="1143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DATA
STORES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1417320"/>
            <a:ext cx="914400" cy="10972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1463040"/>
            <a:ext cx="822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React
Frontend
:5173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2697480"/>
            <a:ext cx="914400" cy="64008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271576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Recruiter
Portal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1417320"/>
            <a:ext cx="960120" cy="192024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61872" y="1444752"/>
            <a:ext cx="868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Vite
Proxy
/api/*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51560" y="1828800"/>
            <a:ext cx="182880" cy="0"/>
          </a:xfrm>
          <a:prstGeom prst="line">
            <a:avLst/>
          </a:prstGeom>
          <a:ln w="25400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331720" y="1417320"/>
            <a:ext cx="1508760" cy="1188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95727" y="146304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Profile Svc
:8002
(FastAPI)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1417320"/>
            <a:ext cx="1508760" cy="11887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87368" y="146304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Job Svc
:3002
(Node.js)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1417320"/>
            <a:ext cx="1508760" cy="1188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9008" y="146304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Application
Svc :5003
(Node.js)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2834640"/>
            <a:ext cx="1508760" cy="1188720"/>
          </a:xfrm>
          <a:prstGeom prst="rect">
            <a:avLst/>
          </a:prstGeom>
          <a:solidFill>
            <a:srgbClr val="03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95727" y="288036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Connection
Svc :3005
(Node.js)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2834640"/>
            <a:ext cx="1508760" cy="1188720"/>
          </a:xfrm>
          <a:prstGeom prst="rect">
            <a:avLst/>
          </a:prstGeom>
          <a:solidFill>
            <a:srgbClr val="03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87368" y="288036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Messaging
Svc :3004
(Node.js)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0" y="2834640"/>
            <a:ext cx="1508760" cy="1188720"/>
          </a:xfrm>
          <a:prstGeom prst="rect">
            <a:avLst/>
          </a:prstGeom>
          <a:solidFill>
            <a:srgbClr val="03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9008" y="288036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Analytics
Svc :4000
(Node.js)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4251960"/>
            <a:ext cx="1508760" cy="11887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95727" y="429768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Service
:8005
(FastAPI)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4251960"/>
            <a:ext cx="1508760" cy="118872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87368" y="429768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Redis
Cache
:6379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1417320"/>
            <a:ext cx="2057400" cy="4846320"/>
          </a:xfrm>
          <a:prstGeom prst="rect">
            <a:avLst/>
          </a:prstGeom>
          <a:solidFill>
            <a:srgbClr val="12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14630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0B5F9"/>
                </a:solidFill>
              </a:rPr>
              <a:t>KAFKA
Event Bus
:9092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09560" y="2286000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36992" y="2295144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job.created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09560" y="2578608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36992" y="2587751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job.closed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2871216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36992" y="288036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job.viewed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3163824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36992" y="317296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job.saved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09560" y="3456432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36992" y="3465576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application.submitted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9560" y="3749039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36992" y="3758183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application.status_updated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60" y="4041648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36992" y="4050791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connection.requested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9560" y="4334256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36992" y="434340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connection.accepted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09560" y="4626864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36992" y="463600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message.sent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09560" y="4919472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36992" y="4928616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member.created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09560" y="5212080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36992" y="5221224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member.updated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09560" y="5504688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36992" y="5513831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profile.viewed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09560" y="5797296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36992" y="580644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ai.requests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09560" y="6089904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36992" y="609904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ai.results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49840" y="1417320"/>
            <a:ext cx="1874519" cy="150876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22992" y="149047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MySQL
data236
linkedin_sim
app_db
connections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246120"/>
            <a:ext cx="1874519" cy="1508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22992" y="331927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MongoDB
analytics
messaging
ai_db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9840" y="4892040"/>
            <a:ext cx="1874519" cy="150876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22992" y="496519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Redis
Search cache
Job cache
TTL 10-60s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 · Agent Architecture &amp; Kafka Topic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AI Orchestration · Hiring Assistant · Career Coach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1463040" cy="100584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Recruiter
Submits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20240" y="2011680"/>
            <a:ext cx="1463040" cy="1005840"/>
          </a:xfrm>
          <a:prstGeom prst="rect">
            <a:avLst/>
          </a:prstGeom>
          <a:solidFill>
            <a:srgbClr val="05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
/ai/submit-task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566160" y="2011680"/>
            <a:ext cx="1463040" cy="1005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79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Kafka
ai.requests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212080" y="2011680"/>
            <a:ext cx="1463040" cy="10058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 Service
Worker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512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858000" y="2011680"/>
            <a:ext cx="1463040" cy="1005840"/>
          </a:xfrm>
          <a:prstGeom prst="rect">
            <a:avLst/>
          </a:prstGeom>
          <a:solidFill>
            <a:srgbClr val="03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MongoDB
Store Task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1040" y="2514600"/>
            <a:ext cx="182879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503920" y="2011680"/>
            <a:ext cx="1463040" cy="1005840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Kafka
ai.results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6696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149840" y="2011680"/>
            <a:ext cx="1463040" cy="1005840"/>
          </a:xfrm>
          <a:prstGeom prst="rect">
            <a:avLst/>
          </a:prstGeom>
          <a:solidFill>
            <a:srgbClr val="5C0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Analytics
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2004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B5F9"/>
                </a:solidFill>
              </a:rPr>
              <a:t>SSE Stream: GET /ai/task-stream/{task_id}  →  Real-time step progress to frontend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611880"/>
            <a:ext cx="5486400" cy="256032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657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B5F9"/>
                </a:solidFill>
              </a:rPr>
              <a:t>Hiring Assistant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4164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1. parse_resume()  → extract skills,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3891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2. compute_match_score()  → cosine similarity on skill vectors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365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3. rank_candidates()  → top-N by weighted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840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4. Human-in-loop: recruiter reviews + approves/rejects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315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5. approve_task()  → updates status → triggers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7790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Approval Rate: tracked in MongoDB ai_db.tasks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611880"/>
            <a:ext cx="5989320" cy="256032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3657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B5F9"/>
                </a:solidFill>
              </a:rPr>
              <a:t>Career Coach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04164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Input: member skills + target job role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38912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analyze_career_fit()  → skill gap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73659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Outputs: skill_match_pct, overall_rating (1-10)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508406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matched_skills / missing_skills / bonus_skills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43153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headline_suggestion  → personalized tagline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577900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suggestions[]  → prioritized action items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1417320"/>
            <a:ext cx="11612880" cy="502920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14447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B5F9"/>
                </a:solidFill>
              </a:rPr>
              <a:t>Kafka Topics: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1444752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job.created  ·  job.closed  ·  job.viewed  ·  job.saved  ·  application.submitted  ·  application.status_updated  ·  connection.requested  ·  connection.accepted  ·  message.sent  ·  member.created  ·  member.updated  ·  profile.viewed  ·  ai.requests  ·  ai.results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 · Scalability &amp; Performance  (Apache JMeter  ·  100 Users  ·  n=500)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Job Search endpoint  ·  4 test combinations  ·  5 loops × 100 threads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103120" cy="329184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
Baseline
(Cold Cache)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965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9.3
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1,565 ms
avg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74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No Redis
No cache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834640"/>
            <a:ext cx="228600" cy="0"/>
          </a:xfrm>
          <a:prstGeom prst="line">
            <a:avLst/>
          </a:prstGeom>
          <a:ln w="38100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606040" y="1188720"/>
          <a:ext cx="43891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223760" y="1188720"/>
          <a:ext cx="46634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4663440"/>
            <a:ext cx="11612880" cy="34747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68172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JMETER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69087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0B5F9"/>
                </a:solidFill>
              </a:rPr>
              <a:t>Apache JMeter  ·  100 threads, 5s ramp, 5 loops  ·  500 samples/run  ·  B excluded from charts (scale: 1,565ms vs 2ms)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02352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102352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5138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10.9×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572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TPS gain: B (9.3) → B+S (101.9) with Redis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5102352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59" y="5102352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5138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99.9%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51572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Latency drop: 1,565ms → 2ms (cold→warm cache)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5102352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5102352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5138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&lt;1ms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1572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Kafka overhead: B+S+K = 3ms vs B+S = 2ms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14416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614416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6509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0 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6692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Zero failed requests across all 4 JMeter runs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5614416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59" y="5614416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61688" y="56509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p99 &lt; 25ms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56692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P99 under 25ms for all cached combinations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 · Agent-Related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Recommendation Quality · Approval Rate · Skill Match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743200" cy="17830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Recommendation
Quality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8.4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Avg AI rating across
all hiring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88720"/>
            <a:ext cx="2743200" cy="17830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Approval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23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Recruiter approvals
/ total tasks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743200" cy="178308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Avg Skill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23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Candidate skills vs
job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188720"/>
            <a:ext cx="2743200" cy="178308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Tasks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423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Applications processed
by AI shortlister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54680"/>
            <a:ext cx="557784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73152" cy="312724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00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B48"/>
                </a:solidFill>
              </a:rPr>
              <a:t>Caching &amp; Detection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393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Redis: search results cached 60 s by sha256(params)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593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Redis: single job cached 10 s by job_id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7939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Cache invalidated on: job update / job close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99431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Duplicate Kafka events: idempotency_key in processed_events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1947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at-least-once delivery guaranteed via MySQL dedup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395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Analytics consumer deduplicates by idempotency_key in MongoDB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595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JWT expiry validation: custom HMAC-SHA256 in middleware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87959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Role-based access: member / recruiter enforced per-route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154680"/>
            <a:ext cx="5852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3154680"/>
            <a:ext cx="73152" cy="312724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B48"/>
                </a:solidFill>
              </a:rPr>
              <a:t>Messaging Flow &amp; Timeliness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363931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message.sent → Kafka → SSE push to recipient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395935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Real-time delivery via Server-Sent Events (SSE)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27939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Thread.message_count incremented on each 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4599431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application.submitted → job-service updates applicants_count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2" y="491947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job.viewed → async view counter increment (non-blocking)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523951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job.created → analytics ingestion for recruiter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555955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ai.requests → AI worker → ai.results → analytics 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587959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Career Coach: synchronous FastAPI (no Kafka needed)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&amp; Scalability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B5F9"/>
                </a:solidFill>
              </a:rPr>
              <a:t>How detection rules, caching policy, and messaging flows support timeliness and scalability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280160"/>
            <a:ext cx="2788920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81051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React 18 + Vite
SSE real-time feeds
Vite proxy for all APIs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280160"/>
            <a:ext cx="2788920" cy="1828800"/>
          </a:xfrm>
          <a:prstGeom prst="rect">
            <a:avLst/>
          </a:prstGeom>
          <a:solidFill>
            <a:srgbClr val="0A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Profile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81051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FastAPI (Python)
JWT auth (HS256)
MySQL + Redis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80160"/>
            <a:ext cx="2788920" cy="182880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Job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81051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MySQL full-text search
Redis cache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280160"/>
            <a:ext cx="2788920" cy="1828800"/>
          </a:xfrm>
          <a:prstGeom prst="rect">
            <a:avLst/>
          </a:prstGeom>
          <a:solidFill>
            <a:srgbClr val="0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81051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Multipart file upload
Kafka producer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291840"/>
            <a:ext cx="2788920" cy="1828800"/>
          </a:xfrm>
          <a:prstGeom prst="rect">
            <a:avLst/>
          </a:prstGeom>
          <a:solidFill>
            <a:srgbClr val="03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Connection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822191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MySQL
Kafka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291840"/>
            <a:ext cx="2788920" cy="18288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Messaging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3822191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MongoDB + Mongoose
SSE real-time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291840"/>
            <a:ext cx="2788920" cy="1828800"/>
          </a:xfrm>
          <a:prstGeom prst="rect">
            <a:avLst/>
          </a:prstGeom>
          <a:solidFill>
            <a:srgbClr val="03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3822191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MongoDB aggregation
Kafka consumer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291840"/>
            <a:ext cx="2788920" cy="182880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822191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FastAPI (Python)
MongoDB task store
Kafka orchestration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29107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0B5F9"/>
                </a:solidFill>
              </a:rPr>
              <a:t>All services containerized (Docker) · Orchestrated via docker-compose · Kafka via Confluent Platform · 78,985 job records seeded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Docker Containerization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Every service ships as an independent Docker image · Orchestrated via docker-compose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788920" cy="17190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710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profile-service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3677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python:3.11-slim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88366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13055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37744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62432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uvicorn / run.py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1234440"/>
            <a:ext cx="2788920" cy="171907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18688" y="123444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12710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job-service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163677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8416" y="188366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213055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8416" y="237744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3002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6" y="262432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src/server.js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1234440"/>
            <a:ext cx="2788920" cy="1719072"/>
          </a:xfrm>
          <a:prstGeom prst="rect">
            <a:avLst/>
          </a:prstGeom>
          <a:solidFill>
            <a:srgbClr val="0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123444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12710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app-service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163677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188366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213055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237744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5003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262432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src/server.js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07424" y="1234440"/>
            <a:ext cx="2788920" cy="1719072"/>
          </a:xfrm>
          <a:prstGeom prst="rect">
            <a:avLst/>
          </a:prstGeom>
          <a:solidFill>
            <a:srgbClr val="03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07424" y="123444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8864" y="12710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connection-svc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163677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188366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213055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237744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3005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262432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server.js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108960"/>
            <a:ext cx="2788920" cy="171907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310896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messaging-svc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351129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3758183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400507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425196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3004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449884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server.js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18688" y="3108960"/>
            <a:ext cx="2788920" cy="1719072"/>
          </a:xfrm>
          <a:prstGeom prst="rect">
            <a:avLst/>
          </a:prstGeom>
          <a:solidFill>
            <a:srgbClr val="03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18688" y="310896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0128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analytics-svc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28416" y="351129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8416" y="3758183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28416" y="400507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8416" y="425196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4000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28416" y="449884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src/server.js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63056" y="3108960"/>
            <a:ext cx="2788920" cy="1719072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63056" y="310896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54496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ai-service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2784" y="351129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python:3.11-slim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72784" y="3758183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72784" y="400507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72784" y="425196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8005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72784" y="449884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uvicorn app.main:app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07424" y="3108960"/>
            <a:ext cx="2788920" cy="1719072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107424" y="310896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98864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frontend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7152" y="351129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 → nginx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17152" y="3758183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17152" y="400507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17152" y="425196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17152" y="449884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nginx (prod build)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120640"/>
            <a:ext cx="11612880" cy="132588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5166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B5F9"/>
                </a:solidFill>
              </a:rPr>
              <a:t>docker-compose.yml  —  Infrastructure Services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5559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Zookeeper :2181  —  Kafka coordination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97680" y="5559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Kafka (Confluent) :9092  —  Event streaming broker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5559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Kafka UI :18088  —  Topic &amp; consumer monitoring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5943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MySQL 8.0 :3308  —  Transactional data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7680" y="5943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MongoDB 7.0 :27017  —  Document store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5943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Redis 7 :6379  —  Cache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Population  —  10,000+ Data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Real production-scale seed data across all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3611880" cy="21031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78,986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219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Job Postings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MySQL · data236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Real job listings seeded
from CSV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34440"/>
            <a:ext cx="3611880" cy="2103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258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10,000+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2219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060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MySQL · linkedin_sim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Synthetic member profiles
with skills &amp; experience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234440"/>
            <a:ext cx="3611880" cy="21031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3258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2219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6060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MySQL · application_db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Live user submissions
during testing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3611880" cy="2103120"/>
          </a:xfrm>
          <a:prstGeom prst="rect">
            <a:avLst/>
          </a:prstGeom>
          <a:solidFill>
            <a:srgbClr val="03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576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537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Connections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377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MySQL · linkedin_conn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303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Member connection graph
(pending/accepted)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566160"/>
            <a:ext cx="3611880" cy="210312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36576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5537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Messages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9377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MongoDB · messaging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2303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Threaded conversations
stored as 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566160"/>
            <a:ext cx="3611880" cy="2103120"/>
          </a:xfrm>
          <a:prstGeom prst="rect">
            <a:avLst/>
          </a:prstGeom>
          <a:solidFill>
            <a:srgbClr val="60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6576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45537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Kafka Topics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9377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Confluent Kafka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52303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Event streams across
all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172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Job postings seeded via CSV import (78,986 real listings) · Members generated with Faker · Full-text search index on title+description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5b · JMeter  —  Concurrency Scaling &amp; Percentile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Apache JMeter  ·  B+S (Redis cached)  ·  10 / 25 / 50 / 100 concurrent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" y="1188720"/>
          <a:ext cx="53949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126480" y="1188720"/>
            <a:ext cx="1828800" cy="32004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 Baseline
(excluded
from chart)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P90
9,766ms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517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P99
18,513ms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No Redis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138160" y="1188720"/>
          <a:ext cx="3749039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Rectangle 16"/>
          <p:cNvSpPr/>
          <p:nvPr/>
        </p:nvSpPr>
        <p:spPr>
          <a:xfrm>
            <a:off x="274320" y="4617720"/>
            <a:ext cx="11612880" cy="34747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636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JMETER SUMMARY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4515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B5F9"/>
                </a:solidFill>
              </a:rPr>
              <a:t>Tool: Apache JMeter  ·  All runs: 0 errors, 0 failed 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47488"/>
            <a:ext cx="197510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" y="5065776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047488"/>
            <a:ext cx="74066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2576" y="5065776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Threads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5047488"/>
            <a:ext cx="832103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9816" y="5065776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5047488"/>
            <a:ext cx="832103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8496" y="5065776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Avg (ms)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5047488"/>
            <a:ext cx="87782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37176" y="506577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P90 (ms)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5047488"/>
            <a:ext cx="87782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51576" y="506577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P99 (ms)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5047488"/>
            <a:ext cx="78638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5976" y="50657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5047488"/>
            <a:ext cx="69494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88936" y="506577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Errors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94960"/>
            <a:ext cx="19751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5413248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66C2"/>
                </a:solidFill>
              </a:rPr>
              <a:t>B (cold cache)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394960"/>
            <a:ext cx="74066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22576" y="5413248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5394960"/>
            <a:ext cx="832103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99816" y="541324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500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5394960"/>
            <a:ext cx="832103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8496" y="541324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1,565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5394960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37176" y="541324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9,766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0" y="5394960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51576" y="541324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18,513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29400" y="5394960"/>
            <a:ext cx="78638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5976" y="541324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9.3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5394960"/>
            <a:ext cx="69494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88936" y="54132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687568"/>
            <a:ext cx="197510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" y="5705856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66C2"/>
                </a:solidFill>
              </a:rPr>
              <a:t>B+S (Redis warm)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5687568"/>
            <a:ext cx="74066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22576" y="5705856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63240" y="5687568"/>
            <a:ext cx="832103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99816" y="5705856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500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5687568"/>
            <a:ext cx="832103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68496" y="5705856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5687568"/>
            <a:ext cx="87782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37176" y="570585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15000" y="5687568"/>
            <a:ext cx="87782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51576" y="570585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29400" y="5687568"/>
            <a:ext cx="78638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65976" y="5705856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101.9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60" y="5687568"/>
            <a:ext cx="69494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88936" y="570585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5980176"/>
            <a:ext cx="19751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" y="5998464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66C2"/>
                </a:solidFill>
              </a:rPr>
              <a:t>B+S+K (+Kafka)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5980176"/>
            <a:ext cx="74066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22576" y="5998464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63240" y="5980176"/>
            <a:ext cx="832103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099816" y="5998464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500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31920" y="5980176"/>
            <a:ext cx="832103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68496" y="5998464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00600" y="5980176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837176" y="5998464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15000" y="5980176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751576" y="5998464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24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29400" y="5980176"/>
            <a:ext cx="78638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65976" y="5998464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101.8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52360" y="5980176"/>
            <a:ext cx="69494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88936" y="599846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6272784"/>
            <a:ext cx="197510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" y="6291072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66C2"/>
                </a:solidFill>
              </a:rPr>
              <a:t>B+S+K+X (+Auth)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0" y="6272784"/>
            <a:ext cx="74066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22576" y="6291072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63240" y="6272784"/>
            <a:ext cx="832103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99816" y="6291072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500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31920" y="6272784"/>
            <a:ext cx="832103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68496" y="6291072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00600" y="6272784"/>
            <a:ext cx="87782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37176" y="6291072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15000" y="6272784"/>
            <a:ext cx="87782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51576" y="6291072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29400" y="6272784"/>
            <a:ext cx="78638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65976" y="629107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101.6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452360" y="6272784"/>
            <a:ext cx="69494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488936" y="629107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Timeliness, Caching Policy &amp; Detection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How our design supports scalability and real-time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B5F9"/>
                </a:solidFill>
              </a:rPr>
              <a:t>DATA 236 · LinkedIn Platform  |  Group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37947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3794760" cy="38404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07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🗄  SQL Caching Policy  (Redis)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6420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Search results: cached by sha256(query params), TTL = 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591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Single job fetch: cached by job_id, TTL = 10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054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Cache key format:  search:{sha256}  /  job:{uuid}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749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Invalidation: job update or close flushes that job's key immediately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Impact: 99.9% latency reduction (1,565ms → 2ms), 10.9× TPS gain (JMeter)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13892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Redis 7 Alpine — minimal memory footprint, sub-millisecond lookups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188720"/>
            <a:ext cx="37947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59" y="1188720"/>
            <a:ext cx="3794760" cy="38404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399" y="1207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📨  Messaging Flow &amp; Timeliness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166420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Kafka fire-and-forget: HTTP responds immediately, events publish async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3591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message.sent → SSE stream → real-time delivery to recipient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054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application.submitted → job-service increments applicants_count async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749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job.viewed → view counter updated without blocking the HTTP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ai.requests → worker processes → ai.results → analytics persisted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513892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All SSE streams use EventEmitter in-process bus for sub-100ms delivery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188720"/>
            <a:ext cx="37947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188720"/>
            <a:ext cx="3794760" cy="384048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207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🔍  Detection Rules &amp; Idempotency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166420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Kafka at-least-once delivery — duplicate events WILL arrive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3591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MySQL processed_events table: idempotency_key PRIMARY KEY deduplicates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3054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MongoDB analytics: findOne({idempotency_key}) before insert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3749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UUID v4 idempotency_key in every event envelope — globally unique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JWT expiry checked on every authenticated request (custom HMAC-SHA256)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3892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Role enforcement: member vs recruiter checked per-route, 403 on mismatch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