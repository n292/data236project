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561"/>
  </p:normalViewPr>
  <p:slideViewPr>
    <p:cSldViewPr snapToGrid="0" snapToObjects="1">
      <p:cViewPr varScale="1">
        <p:scale>
          <a:sx n="95" d="100"/>
          <a:sy n="95" d="100"/>
        </p:scale>
        <p:origin x="200" y="6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rPr lang="en-US"/>
              <a:t>Throughput (TPS) — with optimizations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Transactions/sec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57A55"/>
              </a:solidFill>
            </c:spPr>
            <c:extLst>
              <c:ext xmlns:c16="http://schemas.microsoft.com/office/drawing/2014/chart" uri="{C3380CC4-5D6E-409C-BE32-E72D297353CC}">
                <c16:uniqueId val="{00000001-3A46-0D48-8080-7497A3C7BAED}"/>
              </c:ext>
            </c:extLst>
          </c:dPt>
          <c:dPt>
            <c:idx val="1"/>
            <c:invertIfNegative val="1"/>
            <c:bubble3D val="0"/>
            <c:spPr>
              <a:solidFill>
                <a:srgbClr val="0A66C2"/>
              </a:solidFill>
            </c:spPr>
            <c:extLst>
              <c:ext xmlns:c16="http://schemas.microsoft.com/office/drawing/2014/chart" uri="{C3380CC4-5D6E-409C-BE32-E72D297353CC}">
                <c16:uniqueId val="{00000003-3A46-0D48-8080-7497A3C7BAED}"/>
              </c:ext>
            </c:extLst>
          </c:dPt>
          <c:dPt>
            <c:idx val="2"/>
            <c:invertIfNegative val="1"/>
            <c:bubble3D val="0"/>
            <c:spPr>
              <a:solidFill>
                <a:srgbClr val="E86A23"/>
              </a:solidFill>
            </c:spPr>
            <c:extLst>
              <c:ext xmlns:c16="http://schemas.microsoft.com/office/drawing/2014/chart" uri="{C3380CC4-5D6E-409C-BE32-E72D297353CC}">
                <c16:uniqueId val="{00000005-3A46-0D48-8080-7497A3C7BA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(+Auth+FTS)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101.9</c:v>
                </c:pt>
                <c:pt idx="1">
                  <c:v>101.8</c:v>
                </c:pt>
                <c:pt idx="2">
                  <c:v>101.6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A46-0D48-8080-7497A3C7BA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rPr lang="en-US"/>
              <a:t>Avg Latency (ms) — with optimizations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057A55"/>
              </a:solidFill>
            </c:spPr>
            <c:extLst>
              <c:ext xmlns:c16="http://schemas.microsoft.com/office/drawing/2014/chart" uri="{C3380CC4-5D6E-409C-BE32-E72D297353CC}">
                <c16:uniqueId val="{00000001-F7C6-2E4E-A2A8-720830FF8CA5}"/>
              </c:ext>
            </c:extLst>
          </c:dPt>
          <c:dPt>
            <c:idx val="1"/>
            <c:invertIfNegative val="1"/>
            <c:bubble3D val="0"/>
            <c:spPr>
              <a:solidFill>
                <a:srgbClr val="0A66C2"/>
              </a:solidFill>
            </c:spPr>
            <c:extLst>
              <c:ext xmlns:c16="http://schemas.microsoft.com/office/drawing/2014/chart" uri="{C3380CC4-5D6E-409C-BE32-E72D297353CC}">
                <c16:uniqueId val="{00000003-F7C6-2E4E-A2A8-720830FF8CA5}"/>
              </c:ext>
            </c:extLst>
          </c:dPt>
          <c:dPt>
            <c:idx val="2"/>
            <c:invertIfNegative val="1"/>
            <c:bubble3D val="0"/>
            <c:spPr>
              <a:solidFill>
                <a:srgbClr val="E86A23"/>
              </a:solidFill>
            </c:spPr>
            <c:extLst>
              <c:ext xmlns:c16="http://schemas.microsoft.com/office/drawing/2014/chart" uri="{C3380CC4-5D6E-409C-BE32-E72D297353CC}">
                <c16:uniqueId val="{00000005-F7C6-2E4E-A2A8-720830FF8CA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(+Auth+FTS)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7C6-2E4E-A2A8-720830FF8C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>
                <a:solidFill>
                  <a:srgbClr val="001B48"/>
                </a:solidFill>
              </a:defRPr>
            </a:pPr>
            <a:r>
              <a:rPr lang="en-US"/>
              <a:t>Throughput (TPS) vs Concurrency ↑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Throughput (TPS)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10 users</c:v>
                </c:pt>
                <c:pt idx="1">
                  <c:v>25 users</c:v>
                </c:pt>
                <c:pt idx="2">
                  <c:v>50 users</c:v>
                </c:pt>
                <c:pt idx="3">
                  <c:v>100 users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18.7</c:v>
                </c:pt>
                <c:pt idx="1">
                  <c:v>43.9</c:v>
                </c:pt>
                <c:pt idx="2">
                  <c:v>85.9</c:v>
                </c:pt>
                <c:pt idx="3">
                  <c:v>170.6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5D-0047-BD43-D0A751DEFE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1">
                <a:solidFill>
                  <a:srgbClr val="001B48"/>
                </a:solidFill>
              </a:defRPr>
            </a:pPr>
            <a:r>
              <a:rPr lang="en-US"/>
              <a:t>P90 vs P99 Latency (ms) — optimized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P90 (ms)</c:v>
                </c:pt>
              </c:strCache>
            </c:strRef>
          </c:tx>
          <c:spPr>
            <a:solidFill>
              <a:srgbClr val="0A66C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F7E-5C4F-AECD-18CCAEAEFF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P99 (ms)</c:v>
                </c:pt>
              </c:strCache>
            </c:strRef>
          </c:tx>
          <c:spPr>
            <a:solidFill>
              <a:srgbClr val="E86A2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B+S
(+Redis)</c:v>
                </c:pt>
                <c:pt idx="1">
                  <c:v>B+S+K
(+Kafka)</c:v>
                </c:pt>
                <c:pt idx="2">
                  <c:v>B+S+K+X
(+Auth)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</c:v>
                </c:pt>
                <c:pt idx="1">
                  <c:v>24</c:v>
                </c:pt>
                <c:pt idx="2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F7E-5C4F-AECD-18CCAEAEFF8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515600" y="1097280"/>
            <a:ext cx="2011680" cy="2011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704320" y="274320"/>
            <a:ext cx="1463040" cy="1463040"/>
          </a:xfrm>
          <a:prstGeom prst="ellipse">
            <a:avLst/>
          </a:prstGeom>
          <a:solidFill>
            <a:srgbClr val="70B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57200" y="5943600"/>
            <a:ext cx="1097280" cy="10972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0A66C2"/>
                </a:solidFill>
              </a:rP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4173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LinkedIn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3317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0B5F9"/>
                </a:solidFill>
              </a:rPr>
              <a:t>Scalable Microservices Architecture with AI Orchestration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3017520"/>
            <a:ext cx="8686800" cy="3657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63040" y="3200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</a:rPr>
              <a:t>Group </a:t>
            </a:r>
            <a:r>
              <a:rPr lang="en-US" sz="2000" b="1" i="0" dirty="0">
                <a:solidFill>
                  <a:srgbClr val="FFFFFF"/>
                </a:solidFill>
              </a:rPr>
              <a:t>8</a:t>
            </a:r>
            <a:endParaRPr sz="2000" b="1" i="0" dirty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630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B5F9"/>
                </a:solidFill>
              </a:rPr>
              <a:t>Dipin Jassal  ·  Sarvesh Reshimwale  ·  Sammruddhi  ·  Anushka Khadatkar  ·  Rajesh  ·  Bhavya  ·  Shashira  ·  Nikhil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023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66666"/>
                </a:solidFill>
              </a:rPr>
              <a:t>DATA 236 – Advanced Database Systems  ·  Spring 2025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0876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MySQL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8036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6052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4924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Kafka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59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0" y="4754880"/>
            <a:ext cx="1143000" cy="3474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18120" y="47731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0B5F9"/>
                </a:solidFill>
              </a:rPr>
              <a:t>78,985 jobs  ·  10,000+ members  ·  8 microservices  ·  14 Kafka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 · Group &amp; Team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2179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DJ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Dipin Jassal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50215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0215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Sarvesh Reshimwale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8251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8251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Sammruddhi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32588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06840" y="132588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62872" y="161848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62872" y="167335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AK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258775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Anushka Khadatkar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6576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2179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Rajesh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24612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0215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50215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2900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Bhavya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2648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38251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38251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Shashira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06840" y="3429000"/>
            <a:ext cx="2697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006840" y="3429000"/>
            <a:ext cx="73152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262872" y="3721608"/>
            <a:ext cx="868680" cy="868680"/>
          </a:xfrm>
          <a:prstGeom prst="ellipse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262872" y="3776472"/>
            <a:ext cx="868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19" y="46908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1B48"/>
                </a:solidFill>
              </a:rPr>
              <a:t>Nikhil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172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6666"/>
                </a:solidFill>
              </a:rPr>
              <a:t>PROJECT:  LinkedIn-Like Professional Network  ·  Microservices + AI Orchestration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2 · Database Schema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MySQL (transactional) + MongoDB (document) + Redis (cache)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749039" cy="166420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26187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members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7276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member_id (PK)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79222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first_name, last_name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01168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email (UNIQUE)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23113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headline, about_summary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450591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experience_json, education_json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3749039" cy="1664208"/>
          </a:xfrm>
          <a:prstGeom prst="rect">
            <a:avLst/>
          </a:prstGeom>
          <a:solidFill>
            <a:srgbClr val="05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30449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job_postings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35584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(PK, CHAR 36)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7530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company_id, recruiter_id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79476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title, description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014215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employment_type, location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23367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remote ENUM(onsite/remote/hybrid)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754880"/>
            <a:ext cx="3749039" cy="1664208"/>
          </a:xfrm>
          <a:prstGeom prst="rect">
            <a:avLst/>
          </a:prstGeom>
          <a:solidFill>
            <a:srgbClr val="024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48280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▪ applications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138928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application_id (PK, UUID)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358384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→ job_postings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577840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member_id → members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797296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resume_file_name, resume_file_path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016752"/>
            <a:ext cx="3474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cover_letter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118872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70832" y="12618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saved_jobs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157276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user_id (PK)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0832" y="179222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job_id (PK)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70832" y="201168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saved_at DATETIME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223113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INDEX(user_id), INDEX(job_id)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0" y="297180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70832" y="304495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connections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70832" y="335584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connection_id (PK)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70832" y="357530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requester_id, receiver_id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70832" y="379476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status ENUM(pending/accepted/rejected)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4014215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UNIQUE(requester_id, receiver_id)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0832" y="423367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INDEX(requester), INDEX(receiver)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0" y="4754880"/>
            <a:ext cx="3291840" cy="1664208"/>
          </a:xfrm>
          <a:prstGeom prst="rect">
            <a:avLst/>
          </a:prstGeom>
          <a:solidFill>
            <a:srgbClr val="1A4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70832" y="48280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processed_events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0832" y="5138928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idempotency_key (PK)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70832" y="5358384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event_type, trace_id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70832" y="5577840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entity_type, entity_id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70832" y="5797296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processed_at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70832" y="6016752"/>
            <a:ext cx="3017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Kafka at-least-once dedup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72400" y="1188720"/>
            <a:ext cx="4160520" cy="166420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882127" y="126187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MongoDB: analytics.events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157276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idempotency_key (dedup)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179222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event_type, trace_id, actor_id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82127" y="201168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entity_type, entity_id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82127" y="223113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payload (flexible JSON)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82127" y="2450591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14 Kafka topics ingested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82127" y="267004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_topic, _ingested_at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72400" y="2971800"/>
            <a:ext cx="4160520" cy="1664208"/>
          </a:xfrm>
          <a:prstGeom prst="rect">
            <a:avLst/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882127" y="30449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MongoDB: messaging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7" y="335584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threads: thread_id, participants[]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82127" y="357530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last_message_at, message_count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82127" y="379476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messages: message_id, thread_id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82127" y="4014215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sender_id, message_text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82127" y="423367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status ENUM(sent/delivered/read)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82127" y="445312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  idempotency_key (dedup)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72400" y="4754880"/>
            <a:ext cx="4160520" cy="1664208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82127" y="48280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▪ Redis Cache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513892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search results → TTL 60 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82127" y="5358384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job detail → TTL 10 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882127" y="5577840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Key: search:{sha256(params)}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82127" y="5797296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Key: job:{job_id}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882127" y="6016752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Invalidated on: job update/close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882127" y="6236208"/>
            <a:ext cx="39319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  Reduces MySQL load by ~75%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3 · System Architecture Design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8 microservices · 3 databases · Redis cache · Kafka event bus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" y="1143000"/>
            <a:ext cx="91440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82880" y="11430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CLIENT
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143000"/>
            <a:ext cx="914400" cy="25603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80160" y="11430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API
GATEWAY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1143000"/>
            <a:ext cx="5303520" cy="25603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377439" y="1143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MICROSERVICES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1143000"/>
            <a:ext cx="2148840" cy="25603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0" y="114300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MESSAGING
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49840" y="1143000"/>
            <a:ext cx="1920240" cy="256032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95560" y="11430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DATA
STORES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417320"/>
            <a:ext cx="914400" cy="10972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82880" y="1463040"/>
            <a:ext cx="822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React
Frontend
:5173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" y="2697480"/>
            <a:ext cx="914400" cy="640080"/>
          </a:xfrm>
          <a:prstGeom prst="rect">
            <a:avLst/>
          </a:prstGeom>
          <a:solidFill>
            <a:srgbClr val="408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82880" y="2715768"/>
            <a:ext cx="822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Recruiter
Portal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34440" y="1417320"/>
            <a:ext cx="960120" cy="192024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61872" y="1444752"/>
            <a:ext cx="868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Vite
Proxy
/api/*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1560" y="1828800"/>
            <a:ext cx="182880" cy="0"/>
          </a:xfrm>
          <a:prstGeom prst="line">
            <a:avLst/>
          </a:prstGeom>
          <a:ln w="2540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2331720" y="1417320"/>
            <a:ext cx="1508760" cy="1188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395727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Profile Svc
:8002
(FastAPI)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1417320"/>
            <a:ext cx="1508760" cy="11887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087368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Job Svc
:3002
(Node.js)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15000" y="1417320"/>
            <a:ext cx="1508760" cy="11887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146304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Application
Svc :5003
(Node.js)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395727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Connection
Svc :3005
(Node.js)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087368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Messaging
Svc :3004
(Node.js)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0" y="2834640"/>
            <a:ext cx="1508760" cy="1188720"/>
          </a:xfrm>
          <a:prstGeom prst="rect">
            <a:avLst/>
          </a:prstGeom>
          <a:solidFill>
            <a:srgbClr val="03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288036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Analytics
Svc :4000
(Node.js)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4251960"/>
            <a:ext cx="1508760" cy="11887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395727" y="429768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AI Service
:8005
(FastAPI)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4251960"/>
            <a:ext cx="1508760" cy="118872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087368" y="4297680"/>
            <a:ext cx="138074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Redis
Cache
:6379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1417320"/>
            <a:ext cx="2057400" cy="4846320"/>
          </a:xfrm>
          <a:prstGeom prst="rect">
            <a:avLst/>
          </a:prstGeom>
          <a:solidFill>
            <a:srgbClr val="122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0" y="146304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0B5F9"/>
                </a:solidFill>
              </a:rPr>
              <a:t>KAFKA
Event Bus
:9092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09560" y="2286000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936992" y="2295144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job.created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09560" y="257860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936992" y="258775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job.closed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09560" y="287121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36992" y="288036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job.viewed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09560" y="316382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36992" y="317296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job.saved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09560" y="3456432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936992" y="3465576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application.submitted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09560" y="3749039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936992" y="3758183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application.status_updated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909560" y="404164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936992" y="405079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connection.requested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09560" y="433425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936992" y="434340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connection.accepted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09560" y="462686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936992" y="463600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message.sent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09560" y="4919472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936992" y="4928616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member.created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09560" y="5212080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936992" y="5221224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member.updated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09560" y="5504688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936992" y="5513831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profile.viewed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09560" y="5797296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936992" y="5806440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ai.requests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09560" y="6089904"/>
            <a:ext cx="1920240" cy="256032"/>
          </a:xfrm>
          <a:prstGeom prst="rect">
            <a:avLst/>
          </a:prstGeom>
          <a:solidFill>
            <a:srgbClr val="1A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936992" y="6099048"/>
            <a:ext cx="187451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B5F9"/>
                </a:solidFill>
              </a:rPr>
              <a:t>ai.results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49840" y="1417320"/>
            <a:ext cx="1874519" cy="150876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222992" y="14904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MySQL
data236
linkedin_sim
app_db
connections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49840" y="3246120"/>
            <a:ext cx="1874519" cy="150876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222992" y="331927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MongoDB
analytics
messaging
ai_db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49840" y="4892040"/>
            <a:ext cx="1874519" cy="150876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222992" y="4965192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Redis
Search cache
Job cache
TTL 10-60s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· Agent Architecture &amp; Kafka Topic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AI Orchestration · Hiring Assistant · Career Coach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463040" cy="100584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Recruiter
Submits Task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920240" y="2011680"/>
            <a:ext cx="1463040" cy="1005840"/>
          </a:xfrm>
          <a:prstGeom prst="rect">
            <a:avLst/>
          </a:prstGeom>
          <a:solidFill>
            <a:srgbClr val="05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6596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
/ai/submit-task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8328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566160" y="2011680"/>
            <a:ext cx="1463040" cy="100584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11879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Kafka
ai.requests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212080" y="2011680"/>
            <a:ext cx="1463040" cy="10058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25780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AI Service
Worker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67512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858000" y="2011680"/>
            <a:ext cx="1463040" cy="1005840"/>
          </a:xfrm>
          <a:prstGeom prst="rect">
            <a:avLst/>
          </a:prstGeom>
          <a:solidFill>
            <a:srgbClr val="035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MongoDB
Store Task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1040" y="2514600"/>
            <a:ext cx="182879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8503920" y="2011680"/>
            <a:ext cx="1463040" cy="1005840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Kafka
ai.results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966960" y="2514600"/>
            <a:ext cx="182880" cy="0"/>
          </a:xfrm>
          <a:prstGeom prst="line">
            <a:avLst/>
          </a:prstGeom>
          <a:ln w="25400">
            <a:solidFill>
              <a:srgbClr val="70B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0149840" y="2011680"/>
            <a:ext cx="1463040" cy="1005840"/>
          </a:xfrm>
          <a:prstGeom prst="rect">
            <a:avLst/>
          </a:prstGeom>
          <a:solidFill>
            <a:srgbClr val="5C0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95560" y="21031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Analytics
Consumer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2004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B5F9"/>
                </a:solidFill>
              </a:rPr>
              <a:t>SSE Stream: GET /ai/task-stream/{task_id}  →  Real-time step progress to 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611880"/>
            <a:ext cx="5486400" cy="256032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36576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B5F9"/>
                </a:solidFill>
              </a:rPr>
              <a:t>Hiring Assistant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04164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1. parse_resume()  → extract skills,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3891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2. compute_match_score()  → cosine similarity on skill vectors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73659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3. rank_candidates()  → top-N by weighted 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0840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4. Human-in-loop: recruiter reviews + approves/rejects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431536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5. approve_task()  → updates status → triggers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77900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Approval Rate: tracked in MongoDB ai_db.tasks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3611880"/>
            <a:ext cx="5989320" cy="256032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080760" y="365760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B5F9"/>
                </a:solidFill>
              </a:rPr>
              <a:t>Career Coach 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04164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Input: member skills + target job role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80760" y="4389120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analyze_career_fit()  → skill gap analysis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80760" y="4736592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Outputs: skill_match_pct, overall_rating (1-10)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0760" y="5084064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matched_skills / missing_skills / bonus_skills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431536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headline_suggestion  → personalized tagline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5779008"/>
            <a:ext cx="5669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suggestions[]  → prioritized action items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1417320"/>
            <a:ext cx="11612880" cy="502920"/>
          </a:xfrm>
          <a:prstGeom prst="rect">
            <a:avLst/>
          </a:prstGeom>
          <a:solidFill>
            <a:srgbClr val="1A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" y="1444752"/>
            <a:ext cx="1280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0B5F9"/>
                </a:solidFill>
              </a:rPr>
              <a:t>Kafka Topics: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00200" y="1444752"/>
            <a:ext cx="10149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job.created  ·  job.closed  ·  job.viewed  ·  job.saved  ·  application.submitted  ·  application.status_updated  ·  connection.requested  ·  connection.accepted  ·  message.sent  ·  member.created  ·  member.updated  ·  profile.viewed  ·  ai.requests  ·  ai.results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 · Scalability &amp; Performance  (Apache JMeter  ·  100 Users  ·  n=500)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Job Search endpoint  ·  4 test combinations  ·  5 loops × 100 threads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103120" cy="329184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
Baseline
(Cold Cache)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96596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9.3
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83464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1,565 ms
avg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747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No Redis
No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834640"/>
            <a:ext cx="228600" cy="0"/>
          </a:xfrm>
          <a:prstGeom prst="line">
            <a:avLst/>
          </a:prstGeom>
          <a:ln w="38100">
            <a:solidFill>
              <a:srgbClr val="0A66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606040" y="118872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7223760" y="1188720"/>
          <a:ext cx="46634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Rectangle 17"/>
          <p:cNvSpPr/>
          <p:nvPr/>
        </p:nvSpPr>
        <p:spPr>
          <a:xfrm>
            <a:off x="274320" y="4663440"/>
            <a:ext cx="11612880" cy="3474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4681728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JMETER FINDINGS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690872"/>
            <a:ext cx="8321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70B5F9"/>
                </a:solidFill>
              </a:rPr>
              <a:t>Apache JMeter  ·  100 threads, 5s ramp, 5 loops  ·  500 samples/run  ·  B excluded from charts (scale: 1,565ms vs 2ms)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10.9×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TPS gain: B (9.3) → B+S (101.9) with Redis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59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51959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61688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99.9%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4924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Latency drop: 1,565ms → 2ms (cold→warm cache)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0" y="5102352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5102352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7" y="5138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&lt;1ms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5157216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Kafka overhead: B+S+K = 3ms vs B+S = 2ms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5614416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74320" y="5614416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4048" y="5650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0 errors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669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Zero failed requests across all 4 JMeter runs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59" y="5614416"/>
            <a:ext cx="37947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51959" y="5614416"/>
            <a:ext cx="54864" cy="4572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61688" y="5650992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66C2"/>
                </a:solidFill>
              </a:rPr>
              <a:t>p99 &lt; 25ms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566928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1B48"/>
                </a:solidFill>
              </a:rPr>
              <a:t>P99 under 25ms for all cached combinations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6 · Agent-Related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Recommendation Quality · Approval Rate · Skill Match Scores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2743200" cy="17830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Recommendation
Quality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8.4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Avg AI rating across
all hiring tasks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88720"/>
            <a:ext cx="2743200" cy="17830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9184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Approval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71%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Recruiter approvals
/ total tasks run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1188720"/>
            <a:ext cx="2743200" cy="178308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1792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Avg Skill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Candidate skills vs
job requirements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88720"/>
            <a:ext cx="2743200" cy="178308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1234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Tasks Completed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73736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23160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</a:rPr>
              <a:t>Applications processed
by AI shortlister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54680"/>
            <a:ext cx="557784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74320" y="3154680"/>
            <a:ext cx="73152" cy="312724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32004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B48"/>
                </a:solidFill>
              </a:rPr>
              <a:t>Caching &amp; Detection Policy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6393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Redis: search results cached 60 s by sha256(params)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9593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Redis: single job cached 10 s by job_id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27939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Cache invalidated on: job update / job close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99431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Duplicate Kafka events: idempotency_key in processed_events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91947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at-least-once delivery guaranteed via MySQL dedup 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23951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Analytics consumer deduplicates by idempotency_key in MongoDB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55955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JWT expiry validation: custom HMAC-SHA256 in middleware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879592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Role-based access: member / recruiter enforced per-route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154680"/>
            <a:ext cx="5852160" cy="3127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035040" y="3154680"/>
            <a:ext cx="73152" cy="31272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1B48"/>
                </a:solidFill>
              </a:rPr>
              <a:t>Messaging Flow &amp; Timeliness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99632" y="363931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message.sent → Kafka → SSE push to recipient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395935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Real-time delivery via Server-Sent Events (SSE)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42793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Thread.message_count incremented on each message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99632" y="4599431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application.submitted → job-service updates applicants_count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9632" y="491947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job.viewed → async view counter increment (non-blocking)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99632" y="523951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job.created → analytics ingestion for recruiter dashboard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99632" y="555955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ai.requests → AI worker → ai.results → analytics store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9632" y="5879592"/>
            <a:ext cx="5577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1B48"/>
                </a:solidFill>
              </a:rPr>
              <a:t>• Career Coach: synchronous FastAPI (no Kafka needed)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 &amp; Scalability Techniques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0B5F9"/>
                </a:solidFill>
              </a:rPr>
              <a:t>How detection rules, caching policy, and messaging flows support timeliness and scalability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280160"/>
            <a:ext cx="2788920" cy="18288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React 18 + Vite
SSE real-time feeds
Vite proxy for all APIs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280160"/>
            <a:ext cx="2788920" cy="1828800"/>
          </a:xfrm>
          <a:prstGeom prst="rect">
            <a:avLst/>
          </a:prstGeom>
          <a:solidFill>
            <a:srgbClr val="0A5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101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Profile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01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FastAPI (Python)
JWT auth (HS256)
MySQL + 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280160"/>
            <a:ext cx="2788920" cy="182880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819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Job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19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MySQL full-text search
Redis cache layer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788920" cy="1828800"/>
          </a:xfrm>
          <a:prstGeom prst="rect">
            <a:avLst/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53728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Application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810512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Multipart file upload
Kafka producer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291840"/>
            <a:ext cx="2788920" cy="1828800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383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Connection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MySQL
Kafka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0" y="3291840"/>
            <a:ext cx="2788920" cy="18288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01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Messaging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01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MongoDB + Mongoose
SSE real-time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3291840"/>
            <a:ext cx="2788920" cy="1828800"/>
          </a:xfrm>
          <a:prstGeom prst="rect">
            <a:avLst/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819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Analytics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Node.js + Express
MongoDB aggregation
Kafka consumer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0" y="3291840"/>
            <a:ext cx="2788920" cy="182880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253728" y="3383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822191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</a:rPr>
              <a:t>FastAPI (Python)
MongoDB task store
Kafka orchestration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B5F9"/>
                </a:solidFill>
              </a:rPr>
              <a:t>All services containerized (Docker) · Orchestrated via docker-compose · Kafka via Confluent Platform · 78,985 job records seeded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Docker Containerization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Every service ships as an independent Docker image · Orchestrated via docker-compose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34440"/>
            <a:ext cx="2788920" cy="1719072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profile-service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python:3.11-slim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uvicorn / run.py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18688" y="1234440"/>
            <a:ext cx="2788920" cy="17190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18688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10128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job-service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8416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28416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8416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28416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1234440"/>
            <a:ext cx="2788920" cy="1719072"/>
          </a:xfrm>
          <a:prstGeom prst="rect">
            <a:avLst/>
          </a:prstGeom>
          <a:solidFill>
            <a:srgbClr val="024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63056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54496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app-service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72784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5003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07424" y="1234440"/>
            <a:ext cx="2788920" cy="1719072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107424" y="123444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98864" y="127101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connection-svc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163677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1883664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213055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17152" y="237744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262432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server.js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108960"/>
            <a:ext cx="2788920" cy="171907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messaging-svc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3004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server.js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18688" y="3108960"/>
            <a:ext cx="2788920" cy="1719072"/>
          </a:xfrm>
          <a:prstGeom prst="rect">
            <a:avLst/>
          </a:prstGeom>
          <a:solidFill>
            <a:srgbClr val="03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218688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10128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analytics-svc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28416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node:20-alpine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28416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28416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28416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4000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28416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node src/server.js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63056" y="3108960"/>
            <a:ext cx="2788920" cy="1719072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163056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254496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ai-service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72784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python:3.11-slim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72784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72784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272784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8005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72784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uvicorn app.main:app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07424" y="3108960"/>
            <a:ext cx="2788920" cy="1719072"/>
          </a:xfrm>
          <a:prstGeom prst="rect">
            <a:avLst/>
          </a:prstGeom>
          <a:solidFill>
            <a:srgbClr val="602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9107424" y="3108960"/>
            <a:ext cx="2788920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198864" y="3145536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🐳  frontend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17152" y="3511296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FROM node:20 → nginx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17152" y="3758183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WORKDIR /app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17152" y="4005072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COPY &amp; RUN install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17152" y="4251960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EXPOSE 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17152" y="4498848"/>
            <a:ext cx="2578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CMD nginx (prod build)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120640"/>
            <a:ext cx="11612880" cy="1325880"/>
          </a:xfrm>
          <a:prstGeom prst="rect">
            <a:avLst/>
          </a:prstGeom>
          <a:solidFill>
            <a:srgbClr val="0A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11480" y="5166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0B5F9"/>
                </a:solidFill>
              </a:rPr>
              <a:t>docker-compose.yml  —  Infrastructure Services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Zookeeper :2181  —  Kafka coordination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29768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Kafka (Confluent) :9092  —  Event streaming broker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229600" y="55595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Kafka UI :18088  —  Topic &amp; consumer monitoring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576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MySQL 8.0 :3308  —  Transactional data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768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MongoDB 7.0 :27017  —  Document store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594360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▸ Redis 7 :6379  —  Cache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Population  —  10,000+ Data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Real production-scale seed data across all services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34440"/>
            <a:ext cx="3611880" cy="210312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78,986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Job Postings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data236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Real job listings seeded
from CSV dataset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234440"/>
            <a:ext cx="3611880" cy="21031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10,000+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linkedin_sim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Synthetic member profiles
with skills &amp; experience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34440"/>
            <a:ext cx="3611880" cy="21031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80" y="132588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222199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60604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application_db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89864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Live user submissions
during testing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3611880" cy="2103120"/>
          </a:xfrm>
          <a:prstGeom prst="rect">
            <a:avLst/>
          </a:prstGeom>
          <a:solidFill>
            <a:srgbClr val="034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Connections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MySQL · linkedin_conn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Member connection graph
(pending/accepted)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3566160"/>
            <a:ext cx="3611880" cy="2103120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4340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MongoDB · messaging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Threaded conversations
stored as documents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720" y="3566160"/>
            <a:ext cx="3611880" cy="2103120"/>
          </a:xfrm>
          <a:prstGeom prst="rect">
            <a:avLst/>
          </a:prstGeom>
          <a:solidFill>
            <a:srgbClr val="601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83880" y="3657600"/>
            <a:ext cx="3337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553712"/>
            <a:ext cx="3337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Kafka Topics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937760"/>
            <a:ext cx="3337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Confluent Kafka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</a:rPr>
              <a:t>Event streams across
all services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172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66666"/>
                </a:solidFill>
              </a:rPr>
              <a:t>Job postings seeded via CSV import (78,986 real listings) · Members generated with Faker · Full-text search index on title+description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5b · JMeter  —  Concurrency Scaling &amp; Percentile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Apache JMeter  ·  B+S (Redis cached)  ·  10 / 25 / 50 / 100 concurrent users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188720"/>
          <a:ext cx="53949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6126480" y="1188720"/>
            <a:ext cx="1828800" cy="3200400"/>
          </a:xfrm>
          <a:prstGeom prst="rect">
            <a:avLst/>
          </a:prstGeom>
          <a:solidFill>
            <a:srgbClr val="CC2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23444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 Baseline
(excluded
from chart)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92024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P90
9,766ms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5176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P99
18,513ms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38328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</a:rPr>
              <a:t>No Redis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8138160" y="1188720"/>
          <a:ext cx="3749039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Rectangle 16"/>
          <p:cNvSpPr/>
          <p:nvPr/>
        </p:nvSpPr>
        <p:spPr>
          <a:xfrm>
            <a:off x="274320" y="4617720"/>
            <a:ext cx="11612880" cy="347472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4636008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JMETER SUMMARY 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645152"/>
            <a:ext cx="6675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0B5F9"/>
                </a:solidFill>
              </a:rPr>
              <a:t>Tool: Apache JMeter  ·  All runs: 0 errors, 0 failed requests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047488"/>
            <a:ext cx="197510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10896" y="5065776"/>
            <a:ext cx="1938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5047488"/>
            <a:ext cx="74066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322576" y="5065776"/>
            <a:ext cx="7040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Threads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5047488"/>
            <a:ext cx="832103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099816" y="506577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Samples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5047488"/>
            <a:ext cx="832103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68496" y="5065776"/>
            <a:ext cx="7955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Avg (ms)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5047488"/>
            <a:ext cx="87782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37176" y="506577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P90 (ms)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15000" y="5047488"/>
            <a:ext cx="87782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51576" y="5065776"/>
            <a:ext cx="841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P99 (ms)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047488"/>
            <a:ext cx="78638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65976" y="5065776"/>
            <a:ext cx="749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52360" y="5047488"/>
            <a:ext cx="694944" cy="310896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88936" y="5065776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Errors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94960"/>
            <a:ext cx="19751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10896" y="5413248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 (cold cache)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394960"/>
            <a:ext cx="74066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322576" y="5413248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063240" y="5394960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99816" y="54132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394960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968496" y="5413248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1,565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00600" y="5394960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37176" y="5413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9,766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0" y="5394960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751576" y="5413248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18,513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629400" y="5394960"/>
            <a:ext cx="78638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65976" y="5413248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9.3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52360" y="5394960"/>
            <a:ext cx="69494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88936" y="5413248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687568"/>
            <a:ext cx="197510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10896" y="5705856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 (Redis warm)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5687568"/>
            <a:ext cx="74066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22576" y="5705856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063240" y="5687568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99816" y="570585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31920" y="5687568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968496" y="5705856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00600" y="5687568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837176" y="570585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15000" y="5687568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751576" y="5705856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629400" y="5687568"/>
            <a:ext cx="78638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665976" y="5705856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452360" y="5687568"/>
            <a:ext cx="69494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7488936" y="5705856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5980176"/>
            <a:ext cx="197510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10896" y="5998464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B+S+K (+Kafka)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286000" y="5980176"/>
            <a:ext cx="74066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322576" y="5998464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063240" y="5980176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099816" y="59984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931920" y="5980176"/>
            <a:ext cx="832103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68496" y="5998464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800600" y="5980176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837176" y="59984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715000" y="5980176"/>
            <a:ext cx="87782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751576" y="5998464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629400" y="5980176"/>
            <a:ext cx="78638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665976" y="5998464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52360" y="5980176"/>
            <a:ext cx="694944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88936" y="5998464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6272784"/>
            <a:ext cx="197510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310896" y="6291072"/>
            <a:ext cx="1938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66C2"/>
                </a:solidFill>
              </a:rPr>
              <a:t>B+S+K+X (+Auth)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0" y="6272784"/>
            <a:ext cx="74066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2322576" y="6291072"/>
            <a:ext cx="70408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063240" y="6272784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3099816" y="629107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500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931920" y="6272784"/>
            <a:ext cx="832103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968496" y="6291072"/>
            <a:ext cx="7955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800600" y="6272784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837176" y="629107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3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15000" y="6272784"/>
            <a:ext cx="87782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751576" y="6291072"/>
            <a:ext cx="841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29400" y="6272784"/>
            <a:ext cx="78638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6665976" y="6291072"/>
            <a:ext cx="7498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101.6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452360" y="6272784"/>
            <a:ext cx="694944" cy="27432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488936" y="6291072"/>
            <a:ext cx="6583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001B48"/>
                </a:solidFill>
              </a:rPr>
              <a:t>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Timeliness, Caching Policy &amp; Detection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858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0B5F9"/>
                </a:solidFill>
              </a:rPr>
              <a:t>How our design supports scalability and real-time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1B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601968"/>
            <a:ext cx="7315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70B5F9"/>
                </a:solidFill>
              </a:rPr>
              <a:t>DATA 236 · LinkedIn Platform  |  Group </a:t>
            </a:r>
            <a:r>
              <a:rPr lang="en-US" sz="900" b="0" i="0" dirty="0">
                <a:solidFill>
                  <a:srgbClr val="70B5F9"/>
                </a:solidFill>
              </a:rPr>
              <a:t>8</a:t>
            </a:r>
            <a:endParaRPr sz="900" b="0" i="0" dirty="0">
              <a:solidFill>
                <a:srgbClr val="70B5F9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972800" y="660196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0B5F9"/>
                </a:solidFill>
              </a:rPr>
              <a:t>2024–25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1188720"/>
            <a:ext cx="3794760" cy="384048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🗄  SQL Caching Policy  (Redis)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Search results: cached by sha256(query params), TTL = 60 seconds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Single job fetch: cached by job_id, TTL = 10 seconds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Cache key format:  search:{sha256}  /  job:{uuid}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Invalidation: job update or close flushes that job's key immediately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Impact: 99.9% latency reduction (1,565ms → 2ms), 10.9× TPS gain (JMeter)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Redis 7 Alpine — minimal memory footprint, sub-millisecond lookups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251959" y="1188720"/>
            <a:ext cx="3794760" cy="3840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43399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📨  Messaging Flow &amp; Timeliness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61688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fire-and-forget: HTTP responds immediately, events publish async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message.sent → SSE stream → real-time delivery to recipient browser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application.submitted → job-service increments applicants_count async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job.viewed → view counter updated without blocking the HTTP response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ai.requests → worker processes → ai.results → analytics persisted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1688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All SSE streams use EventEmitter in-process bus for sub-100ms delivery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1188720"/>
            <a:ext cx="3794760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229600" y="1188720"/>
            <a:ext cx="3794760" cy="384048"/>
          </a:xfrm>
          <a:prstGeom prst="rect">
            <a:avLst/>
          </a:prstGeom>
          <a:solidFill>
            <a:srgbClr val="E86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1207008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🔍  Detection Rules &amp; Idempotency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166420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Kafka at-least-once delivery — duplicate events WILL arrive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359152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MySQL processed_events table: idempotency_key PRIMARY KEY deduplicates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3054096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MongoDB analytics: findOne({idempotency_key}) before insert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749040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UUID v4 idempotency_key in every event envelope — globally unique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4443984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JWT expiry checked on every authenticated request (custom HMAC-SHA256)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38928"/>
            <a:ext cx="3566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1B48"/>
                </a:solidFill>
              </a:rPr>
              <a:t>• Role enforcement: member vs recruiter checked per-route, 403 on mismatch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2405</Words>
  <Application>Microsoft Macintosh PowerPoint</Application>
  <PresentationFormat>Custom</PresentationFormat>
  <Paragraphs>401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Dipin Jassal</cp:lastModifiedBy>
  <cp:revision>2</cp:revision>
  <dcterms:created xsi:type="dcterms:W3CDTF">2013-01-27T09:14:16Z</dcterms:created>
  <dcterms:modified xsi:type="dcterms:W3CDTF">2026-04-28T06:01:07Z</dcterms:modified>
  <cp:category/>
</cp:coreProperties>
</file>