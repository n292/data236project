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001B48"/>
                </a:solidFill>
              </a:defRPr>
            </a:pPr>
            <a:r>
              <a:t>Throughput (req/s)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A66C2"/>
            </a:solidFill>
          </c:spPr>
          <c:cat>
            <c:strRef>
              <c:f>Sheet1!$A$2:$A$5</c:f>
              <c:strCache>
                <c:ptCount val="4"/>
                <c:pt idx="0">
                  <c:v>B</c:v>
                </c:pt>
                <c:pt idx="1">
                  <c:v>B+S</c:v>
                </c:pt>
                <c:pt idx="2">
                  <c:v>B+S+K</c:v>
                </c:pt>
                <c:pt idx="3">
                  <c:v>B+S+K+Other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63.5</c:v>
                </c:pt>
                <c:pt idx="1">
                  <c:v>204.7</c:v>
                </c:pt>
                <c:pt idx="2">
                  <c:v>204.7</c:v>
                </c:pt>
                <c:pt idx="3">
                  <c:v>204.4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001B48"/>
                </a:solidFill>
              </a:defRPr>
            </a:pPr>
            <a:r>
              <a:t>Average Latency (ms)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A55A0"/>
            </a:solidFill>
          </c:spPr>
          <c:cat>
            <c:strRef>
              <c:f>Sheet1!$A$2:$A$5</c:f>
              <c:strCache>
                <c:ptCount val="4"/>
                <c:pt idx="0">
                  <c:v>B</c:v>
                </c:pt>
                <c:pt idx="1">
                  <c:v>B+S</c:v>
                </c:pt>
                <c:pt idx="2">
                  <c:v>B+S+K</c:v>
                </c:pt>
                <c:pt idx="3">
                  <c:v>B+S+K+Other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1289.5</c:v>
                </c:pt>
                <c:pt idx="1">
                  <c:v>0.9</c:v>
                </c:pt>
                <c:pt idx="2">
                  <c:v>0.9</c:v>
                </c:pt>
                <c:pt idx="3">
                  <c:v>0.9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001B48"/>
                </a:solidFill>
              </a:defRPr>
            </a:pPr>
            <a:r>
              <a:t>P95 Latency (ms)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24080"/>
            </a:solidFill>
          </c:spPr>
          <c:cat>
            <c:strRef>
              <c:f>Sheet1!$A$2:$A$5</c:f>
              <c:strCache>
                <c:ptCount val="4"/>
                <c:pt idx="0">
                  <c:v>B</c:v>
                </c:pt>
                <c:pt idx="1">
                  <c:v>B+S</c:v>
                </c:pt>
                <c:pt idx="2">
                  <c:v>B+S+K</c:v>
                </c:pt>
                <c:pt idx="3">
                  <c:v>B+S+K+Other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7359.0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001B48"/>
                </a:solidFill>
              </a:defRPr>
            </a:pPr>
            <a:r>
              <a:t>Error Rate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C2200"/>
            </a:solidFill>
          </c:spPr>
          <c:cat>
            <c:strRef>
              <c:f>Sheet1!$A$2:$A$5</c:f>
              <c:strCache>
                <c:ptCount val="4"/>
                <c:pt idx="0">
                  <c:v>B</c:v>
                </c:pt>
                <c:pt idx="1">
                  <c:v>B+S</c:v>
                </c:pt>
                <c:pt idx="2">
                  <c:v>B+S+K</c:v>
                </c:pt>
                <c:pt idx="3">
                  <c:v>B+S+K+Other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001B48"/>
                </a:solidFill>
              </a:defRPr>
            </a:pPr>
            <a:r>
              <a:t>Throughput (req/s)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57A55"/>
            </a:solidFill>
          </c:spPr>
          <c:cat>
            <c:strRef>
              <c:f>Sheet1!$A$2:$A$5</c:f>
              <c:strCache>
                <c:ptCount val="4"/>
                <c:pt idx="0">
                  <c:v>B</c:v>
                </c:pt>
                <c:pt idx="1">
                  <c:v>B+S</c:v>
                </c:pt>
                <c:pt idx="2">
                  <c:v>B+S+K</c:v>
                </c:pt>
                <c:pt idx="3">
                  <c:v>B+S+K+Other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102.2</c:v>
                </c:pt>
                <c:pt idx="1">
                  <c:v>100.8</c:v>
                </c:pt>
                <c:pt idx="2">
                  <c:v>102.0</c:v>
                </c:pt>
                <c:pt idx="3">
                  <c:v>102.1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001B48"/>
                </a:solidFill>
              </a:defRPr>
            </a:pPr>
            <a:r>
              <a:t>Average Latency (ms)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36040"/>
            </a:solidFill>
          </c:spPr>
          <c:cat>
            <c:strRef>
              <c:f>Sheet1!$A$2:$A$5</c:f>
              <c:strCache>
                <c:ptCount val="4"/>
                <c:pt idx="0">
                  <c:v>B</c:v>
                </c:pt>
                <c:pt idx="1">
                  <c:v>B+S</c:v>
                </c:pt>
                <c:pt idx="2">
                  <c:v>B+S+K</c:v>
                </c:pt>
                <c:pt idx="3">
                  <c:v>B+S+K+Other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</c:v>
                </c:pt>
                <c:pt idx="1">
                  <c:v>4.5</c:v>
                </c:pt>
                <c:pt idx="2">
                  <c:v>2.5</c:v>
                </c:pt>
                <c:pt idx="3">
                  <c:v>2.5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001B48"/>
                </a:solidFill>
              </a:defRPr>
            </a:pPr>
            <a:r>
              <a:t>P95 Latency (ms)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24830"/>
            </a:solidFill>
          </c:spPr>
          <c:cat>
            <c:strRef>
              <c:f>Sheet1!$A$2:$A$5</c:f>
              <c:strCache>
                <c:ptCount val="4"/>
                <c:pt idx="0">
                  <c:v>B</c:v>
                </c:pt>
                <c:pt idx="1">
                  <c:v>B+S</c:v>
                </c:pt>
                <c:pt idx="2">
                  <c:v>B+S+K</c:v>
                </c:pt>
                <c:pt idx="3">
                  <c:v>B+S+K+Other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4.0</c:v>
                </c:pt>
                <c:pt idx="2">
                  <c:v>4.0</c:v>
                </c:pt>
                <c:pt idx="3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001B48"/>
                </a:solidFill>
              </a:defRPr>
            </a:pPr>
            <a:r>
              <a:t>Error Rate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27B8E"/>
            </a:solidFill>
          </c:spPr>
          <c:cat>
            <c:strRef>
              <c:f>Sheet1!$A$2:$A$5</c:f>
              <c:strCache>
                <c:ptCount val="4"/>
                <c:pt idx="0">
                  <c:v>B</c:v>
                </c:pt>
                <c:pt idx="1">
                  <c:v>B+S</c:v>
                </c:pt>
                <c:pt idx="2">
                  <c:v>B+S+K</c:v>
                </c:pt>
                <c:pt idx="3">
                  <c:v>B+S+K+Other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365760"/>
            <a:ext cx="2560320" cy="256032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91440"/>
            <a:ext cx="1645920" cy="1645920"/>
          </a:xfrm>
          <a:prstGeom prst="ellipse">
            <a:avLst/>
          </a:prstGeom>
          <a:solidFill>
            <a:srgbClr val="05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" y="5303520"/>
            <a:ext cx="1371600" cy="1371600"/>
          </a:xfrm>
          <a:prstGeom prst="ellipse">
            <a:avLst/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0" y="5029200"/>
            <a:ext cx="2011680" cy="2011680"/>
          </a:xfrm>
          <a:prstGeom prst="ellipse">
            <a:avLst/>
          </a:prstGeom>
          <a:solidFill>
            <a:srgbClr val="02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2999232"/>
            <a:ext cx="868680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09728" cy="9601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011680"/>
            <a:ext cx="109728" cy="32004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1371600"/>
            <a:ext cx="109728" cy="4114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371600"/>
            <a:ext cx="365760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13258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LinkedIn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317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70B5F9"/>
                </a:solidFill>
              </a:rPr>
              <a:t>Scalable Microservices  ·  Kafka Event Bus  ·  Agentic AI  ·  Real-Time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54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Group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8444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0B5F9"/>
                </a:solidFill>
              </a:rPr>
              <a:t>Dipin Jassal  ·  Sarvesh Reshimwale  ·  Sammruddhi  ·  Anushka Khadatkar  ·  Rajesh  ·  Bhavya  ·  Shashira  ·  Nikhil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77639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6687A"/>
                </a:solidFill>
              </a:rPr>
              <a:t>DATA 236 — Advanced Database Systems  ·  Spring 2025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4709160"/>
            <a:ext cx="1115568" cy="310896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727448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4709160"/>
            <a:ext cx="1115568" cy="310896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4727448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05072" y="4709160"/>
            <a:ext cx="1115568" cy="310896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5072" y="4727448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4709160"/>
            <a:ext cx="1115568" cy="310896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4727448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Kafka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4709160"/>
            <a:ext cx="1115568" cy="310896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4727448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9792" y="4709160"/>
            <a:ext cx="1115568" cy="310896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9792" y="4727448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4709160"/>
            <a:ext cx="1115568" cy="310896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4727448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2120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C8F8"/>
                </a:solidFill>
              </a:rPr>
              <a:t>78,986 jobs  ·  10,000+ members  ·  8 microservices  ·  14 Kafka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 · Group 8  —  Team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B5F9"/>
                </a:solidFill>
              </a:rPr>
              <a:t>DATA 236  ·  LinkedIn Platform  ·  Group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202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0B5F9"/>
                </a:solidFill>
              </a:rPr>
              <a:t>Spring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34440"/>
            <a:ext cx="2743200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234440"/>
            <a:ext cx="64008" cy="202996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90472"/>
            <a:ext cx="914400" cy="91440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45336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DJ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551176"/>
            <a:ext cx="2487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Dipin Jassal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1234440"/>
            <a:ext cx="2743200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3552" y="1234440"/>
            <a:ext cx="64008" cy="202996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66160" y="1490472"/>
            <a:ext cx="914400" cy="91440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545336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551176"/>
            <a:ext cx="2487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Sarvesh Reshimwale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234440"/>
            <a:ext cx="2743200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234440"/>
            <a:ext cx="64008" cy="202996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0" y="1490472"/>
            <a:ext cx="914400" cy="91440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545336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551176"/>
            <a:ext cx="2487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Sammruddhi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25712" y="1234440"/>
            <a:ext cx="2743200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25712" y="1234440"/>
            <a:ext cx="64008" cy="202996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0" y="1490472"/>
            <a:ext cx="914400" cy="91440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45336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551176"/>
            <a:ext cx="2487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Anushka Khadatkar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" y="3520440"/>
            <a:ext cx="2743200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" y="3520440"/>
            <a:ext cx="64008" cy="202996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3776472"/>
            <a:ext cx="914400" cy="91440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31336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4837176"/>
            <a:ext cx="2487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Rajesh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73552" y="3520440"/>
            <a:ext cx="2743200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73552" y="3520440"/>
            <a:ext cx="64008" cy="202996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66160" y="3776472"/>
            <a:ext cx="914400" cy="91440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3831336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1568" y="4837176"/>
            <a:ext cx="2487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Bhavya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3520440"/>
            <a:ext cx="2743200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99632" y="3520440"/>
            <a:ext cx="64008" cy="202996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92240" y="3776472"/>
            <a:ext cx="914400" cy="91440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831336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837176"/>
            <a:ext cx="2487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Shashira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25712" y="3520440"/>
            <a:ext cx="2743200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25712" y="3520440"/>
            <a:ext cx="64008" cy="202996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418320" y="3776472"/>
            <a:ext cx="914400" cy="91440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0" y="3831336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3728" y="4837176"/>
            <a:ext cx="2487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Nikhil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23620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6687A"/>
                </a:solidFill>
              </a:rPr>
              <a:t>Project: LinkedIn-Like Professional Network  ·  Microservices + Kafka + AI Orchestration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 · Database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B5F9"/>
                </a:solidFill>
              </a:rPr>
              <a:t>MySQL (transactional)  ·  MongoDB (documents/events)  ·  Redis (cache layer)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B5F9"/>
                </a:solidFill>
              </a:rPr>
              <a:t>DATA 236  ·  LinkedIn Platform  ·  Group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0B5F9"/>
                </a:solidFill>
              </a:rPr>
              <a:t>Spring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188720"/>
            <a:ext cx="3657600" cy="1600200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88720"/>
            <a:ext cx="3657600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216152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517904"/>
            <a:ext cx="3493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0B5F9"/>
                </a:solidFill>
              </a:rPr>
              <a:t>PK: member_id (CHAR 36)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719072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email UNIQUE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1920240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first_name, last_name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121408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headline, about_summary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322576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experience_json, education_json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523744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skills_json, profile_photo_url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" y="2907791"/>
            <a:ext cx="3657600" cy="1600200"/>
          </a:xfrm>
          <a:prstGeom prst="roundRect">
            <a:avLst>
              <a:gd name="adj" fmla="val 5000"/>
            </a:avLst>
          </a:prstGeom>
          <a:solidFill>
            <a:srgbClr val="05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2907791"/>
            <a:ext cx="3657600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" y="2935223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job_postings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3236975"/>
            <a:ext cx="3493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0B5F9"/>
                </a:solidFill>
              </a:rPr>
              <a:t>PK: job_id (CHAR 36)  FK: recruiter_id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438144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title, description (FULLTEXT indexed)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639312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employment_type, 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3840480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remote ENUM(onsite/remote/hybrid)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4041648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skills_required JSON, salary_min/max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4242816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status ENUM(open/closed)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" y="4626864"/>
            <a:ext cx="3657600" cy="1600200"/>
          </a:xfrm>
          <a:prstGeom prst="roundRect">
            <a:avLst>
              <a:gd name="adj" fmla="val 5000"/>
            </a:avLst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4626864"/>
            <a:ext cx="3657600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4654296"/>
            <a:ext cx="3584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applications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4956048"/>
            <a:ext cx="3493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0B5F9"/>
                </a:solidFill>
              </a:rPr>
              <a:t>PK: application_id  UNIQUE(job_id, member_id)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5157216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job_id → job_postings, member_id → members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5358383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resume_file_name, resume_file_path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5559552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cover_letter, recruiter_note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5760720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status ENUM(submitted/reviewed/accepted/rejected)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1188720"/>
            <a:ext cx="3063240" cy="1600200"/>
          </a:xfrm>
          <a:prstGeom prst="roundRect">
            <a:avLst>
              <a:gd name="adj" fmla="val 5000"/>
            </a:avLst>
          </a:prstGeom>
          <a:solidFill>
            <a:srgbClr val="12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1188720"/>
            <a:ext cx="3063240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51376" y="1216152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saved_jobs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7952" y="1517904"/>
            <a:ext cx="2907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0B5F9"/>
                </a:solidFill>
              </a:rPr>
              <a:t>PK: (user_id, job_id)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87952" y="1719072"/>
            <a:ext cx="2907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• saved_at DATETIME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7952" y="1956815"/>
            <a:ext cx="2907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• INDEX(user_id), INDEX(job_id)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0" y="2907791"/>
            <a:ext cx="3063240" cy="1600200"/>
          </a:xfrm>
          <a:prstGeom prst="roundRect">
            <a:avLst>
              <a:gd name="adj" fmla="val 5000"/>
            </a:avLst>
          </a:prstGeom>
          <a:solidFill>
            <a:srgbClr val="12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0" y="2907791"/>
            <a:ext cx="3063240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51376" y="2935223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connections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87952" y="3236975"/>
            <a:ext cx="2907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0B5F9"/>
                </a:solidFill>
              </a:rPr>
              <a:t>PK: connection_id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87952" y="3438144"/>
            <a:ext cx="2907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• requester_id, receiver_id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87952" y="3675887"/>
            <a:ext cx="2907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• status ENUM(pending/accepted/rejected)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87952" y="3913631"/>
            <a:ext cx="2907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• UNIQUE(requester_id, receiver_id)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0" y="4626864"/>
            <a:ext cx="3063240" cy="1600200"/>
          </a:xfrm>
          <a:prstGeom prst="roundRect">
            <a:avLst>
              <a:gd name="adj" fmla="val 5000"/>
            </a:avLst>
          </a:prstGeom>
          <a:solidFill>
            <a:srgbClr val="12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4626864"/>
            <a:ext cx="3063240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51376" y="4654296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processed_events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87952" y="4956048"/>
            <a:ext cx="2907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0B5F9"/>
                </a:solidFill>
              </a:rPr>
              <a:t>PK: idempotency_key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87952" y="5157216"/>
            <a:ext cx="2907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• event_type, trace_id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87952" y="5394959"/>
            <a:ext cx="2907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• entity_type, entity_id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87952" y="5632704"/>
            <a:ext cx="2907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• processed_at — Kafka dedup table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06640" y="1188720"/>
            <a:ext cx="4480560" cy="1600200"/>
          </a:xfrm>
          <a:prstGeom prst="roundRect">
            <a:avLst>
              <a:gd name="adj" fmla="val 5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06640" y="1188720"/>
            <a:ext cx="4480560" cy="292608"/>
          </a:xfrm>
          <a:prstGeom prst="rect">
            <a:avLst/>
          </a:prstGeom>
          <a:solidFill>
            <a:srgbClr val="02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43216" y="1216152"/>
            <a:ext cx="4407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MongoDB: linkedin_analytics.events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79792" y="1481328"/>
            <a:ext cx="4352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idempotency_key (dedup PK)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79792" y="1682496"/>
            <a:ext cx="4352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event_type, trace_id, actor_id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79792" y="1883664"/>
            <a:ext cx="4352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entity {entity_type, entity_id}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79792" y="2084832"/>
            <a:ext cx="4352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payload (flexible JSON schema)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79792" y="2286000"/>
            <a:ext cx="4352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14 Kafka topics → all ingested here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79792" y="2487168"/>
            <a:ext cx="4352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_topic, _ingested_at (routing)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06640" y="2907792"/>
            <a:ext cx="4480560" cy="1600200"/>
          </a:xfrm>
          <a:prstGeom prst="roundRect">
            <a:avLst>
              <a:gd name="adj" fmla="val 5000"/>
            </a:avLst>
          </a:prstGeom>
          <a:solidFill>
            <a:srgbClr val="03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06640" y="2907792"/>
            <a:ext cx="4480560" cy="292608"/>
          </a:xfrm>
          <a:prstGeom prst="rect">
            <a:avLst/>
          </a:prstGeom>
          <a:solidFill>
            <a:srgbClr val="02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43216" y="2935224"/>
            <a:ext cx="4407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MongoDB: messaging + ai_db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79792" y="3200400"/>
            <a:ext cx="4352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threads: thread_id, participants[], last_message_at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79792" y="3419856"/>
            <a:ext cx="4352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messages: message_id, thread_id, sender_id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79792" y="3639312"/>
            <a:ext cx="4352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  message_text, status(sent/delivered/read)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79792" y="3858768"/>
            <a:ext cx="4352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ai_db.tasks: job_id, recruiter_id, steps[]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79792" y="4078224"/>
            <a:ext cx="43525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  status, created_at, trace_id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406640" y="4645152"/>
            <a:ext cx="4480560" cy="1600200"/>
          </a:xfrm>
          <a:prstGeom prst="roundRect">
            <a:avLst>
              <a:gd name="adj" fmla="val 5000"/>
            </a:avLst>
          </a:prstGeom>
          <a:solidFill>
            <a:srgbClr val="9C4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406640" y="4645152"/>
            <a:ext cx="4480560" cy="292608"/>
          </a:xfrm>
          <a:prstGeom prst="rect">
            <a:avLst/>
          </a:prstGeom>
          <a:solidFill>
            <a:srgbClr val="6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43216" y="4672584"/>
            <a:ext cx="4407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Redis Cache  (TTL-based)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79792" y="4937760"/>
            <a:ext cx="4352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Key: search:{sha256(params)}  →  TTL 60 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79792" y="5175504"/>
            <a:ext cx="4352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Key: job:{job_id}  →  TTL 10 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79792" y="5413248"/>
            <a:ext cx="4352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Invalidated on: job update / job close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79792" y="5650992"/>
            <a:ext cx="4352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Reduces MySQL FULLTEXT load by ~99%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79792" y="5888736"/>
            <a:ext cx="4352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• Sub-millisecond lookups from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3 · System Architecture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B5F9"/>
                </a:solidFill>
              </a:rPr>
              <a:t>3-tier microservices  ·  8 services  ·  Kafka event bus  ·  3 databases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B5F9"/>
                </a:solidFill>
              </a:rPr>
              <a:t>DATA 236  ·  LinkedIn Platform  ·  Group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0B5F9"/>
                </a:solidFill>
              </a:rPr>
              <a:t>Spring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115568"/>
            <a:ext cx="1234440" cy="530352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" y="1115568"/>
            <a:ext cx="1234440" cy="237744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1133856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0B5F9"/>
                </a:solidFill>
              </a:rPr>
              <a:t>CLIENT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81328" y="1115568"/>
            <a:ext cx="1115568" cy="53035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81328" y="1115568"/>
            <a:ext cx="1115568" cy="237744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7048" y="1133856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0B5F9"/>
                </a:solidFill>
              </a:rPr>
              <a:t>PROXY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06624" y="1115568"/>
            <a:ext cx="5047488" cy="530352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06624" y="1115568"/>
            <a:ext cx="5047488" cy="237744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2344" y="1133856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0B5F9"/>
                </a:solidFill>
              </a:rPr>
              <a:t>MICROSERVICES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115568"/>
            <a:ext cx="2103120" cy="5303520"/>
          </a:xfrm>
          <a:prstGeom prst="rect">
            <a:avLst/>
          </a:prstGeom>
          <a:solidFill>
            <a:srgbClr val="100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1115568"/>
            <a:ext cx="2103120" cy="237744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1133856"/>
            <a:ext cx="2011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0B5F9"/>
                </a:solidFill>
              </a:rPr>
              <a:t>KAFKA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1115568"/>
            <a:ext cx="2011680" cy="530352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0" y="1115568"/>
            <a:ext cx="2011680" cy="237744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20" y="1133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0B5F9"/>
                </a:solidFill>
              </a:rPr>
              <a:t>DATABASES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" y="1417320"/>
            <a:ext cx="1097280" cy="1005840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1444752"/>
            <a:ext cx="1042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React
Frontend
:3000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" y="2606040"/>
            <a:ext cx="1097280" cy="777240"/>
          </a:xfrm>
          <a:prstGeom prst="roundRect">
            <a:avLst>
              <a:gd name="adj" fmla="val 5000"/>
            </a:avLst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2624328"/>
            <a:ext cx="104241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Recruiter
Portal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36192" y="1417320"/>
            <a:ext cx="1005840" cy="1965960"/>
          </a:xfrm>
          <a:prstGeom prst="roundRect">
            <a:avLst>
              <a:gd name="adj" fmla="val 5000"/>
            </a:avLst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1463040"/>
            <a:ext cx="96926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Vite
Proxy
/api/*
/analytics
/ai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298448" y="1920240"/>
            <a:ext cx="237744" cy="0"/>
          </a:xfrm>
          <a:prstGeom prst="line">
            <a:avLst/>
          </a:prstGeom>
          <a:ln w="1905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298448" y="2560320"/>
            <a:ext cx="237744" cy="438912"/>
          </a:xfrm>
          <a:prstGeom prst="line">
            <a:avLst/>
          </a:prstGeom>
          <a:ln w="1905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770632" y="141732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70632" y="1417320"/>
            <a:ext cx="1417320" cy="256032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25496" y="1444752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Profile Svc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25496" y="172821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B5F9"/>
                </a:solidFill>
              </a:rPr>
              <a:t>:8002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5496" y="1984248"/>
            <a:ext cx="13075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8D8D8"/>
                </a:solidFill>
              </a:rPr>
              <a:t>FastAPI
Python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87952" y="1947672"/>
            <a:ext cx="3675888" cy="0"/>
          </a:xfrm>
          <a:prstGeom prst="line">
            <a:avLst/>
          </a:prstGeom>
          <a:ln w="15240">
            <a:solidFill>
              <a:srgbClr val="404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315968" y="141732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124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15968" y="1417320"/>
            <a:ext cx="1417320" cy="256032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1" y="1444752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Job Svc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831" y="172821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B5F9"/>
                </a:solidFill>
              </a:rPr>
              <a:t>:3002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0831" y="1984248"/>
            <a:ext cx="13075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8D8D8"/>
                </a:solidFill>
              </a:rPr>
              <a:t>Node.js
Express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733288" y="1947672"/>
            <a:ext cx="2130552" cy="0"/>
          </a:xfrm>
          <a:prstGeom prst="line">
            <a:avLst/>
          </a:prstGeom>
          <a:ln w="15240">
            <a:solidFill>
              <a:srgbClr val="404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861304" y="141732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61304" y="1417320"/>
            <a:ext cx="1417320" cy="256032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16168" y="1444752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App Svc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16168" y="172821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B5F9"/>
                </a:solidFill>
              </a:rPr>
              <a:t>:5003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16168" y="1984248"/>
            <a:ext cx="13075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8D8D8"/>
                </a:solidFill>
              </a:rPr>
              <a:t>Node.js
Express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278624" y="1947672"/>
            <a:ext cx="585216" cy="0"/>
          </a:xfrm>
          <a:prstGeom prst="line">
            <a:avLst/>
          </a:prstGeom>
          <a:ln w="15240">
            <a:solidFill>
              <a:srgbClr val="404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770632" y="283464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027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70632" y="2834640"/>
            <a:ext cx="1417320" cy="256032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25496" y="2862072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Conn Svc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25496" y="314553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B5F9"/>
                </a:solidFill>
              </a:rPr>
              <a:t>:3005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25496" y="3401568"/>
            <a:ext cx="13075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8D8D8"/>
                </a:solidFill>
              </a:rPr>
              <a:t>Node.js
Express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187952" y="3364992"/>
            <a:ext cx="3675888" cy="0"/>
          </a:xfrm>
          <a:prstGeom prst="line">
            <a:avLst/>
          </a:prstGeom>
          <a:ln w="15240">
            <a:solidFill>
              <a:srgbClr val="404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315968" y="283464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035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15968" y="2834640"/>
            <a:ext cx="1417320" cy="256032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70831" y="2862072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Msg Svc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0831" y="314553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B5F9"/>
                </a:solidFill>
              </a:rPr>
              <a:t>:3004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70831" y="3401568"/>
            <a:ext cx="13075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8D8D8"/>
                </a:solidFill>
              </a:rPr>
              <a:t>Node.js
MongoDB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733288" y="3364992"/>
            <a:ext cx="2130552" cy="0"/>
          </a:xfrm>
          <a:prstGeom prst="line">
            <a:avLst/>
          </a:prstGeom>
          <a:ln w="15240">
            <a:solidFill>
              <a:srgbClr val="404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5861304" y="283464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61304" y="2834640"/>
            <a:ext cx="1417320" cy="256032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16168" y="2862072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16168" y="314553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B5F9"/>
                </a:solidFill>
              </a:rPr>
              <a:t>:4000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16168" y="3401568"/>
            <a:ext cx="13075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8D8D8"/>
                </a:solidFill>
              </a:rPr>
              <a:t>Node.js
MongoDB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278624" y="3364992"/>
            <a:ext cx="585216" cy="0"/>
          </a:xfrm>
          <a:prstGeom prst="line">
            <a:avLst/>
          </a:prstGeom>
          <a:ln w="15240">
            <a:solidFill>
              <a:srgbClr val="404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2770632" y="425196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8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770632" y="4251960"/>
            <a:ext cx="1417320" cy="256032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25496" y="4279392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 Service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25496" y="456285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B5F9"/>
                </a:solidFill>
              </a:rPr>
              <a:t>:8005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25496" y="4818888"/>
            <a:ext cx="13075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8D8D8"/>
                </a:solidFill>
              </a:rPr>
              <a:t>FastAPI
Python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187952" y="4782312"/>
            <a:ext cx="3675888" cy="0"/>
          </a:xfrm>
          <a:prstGeom prst="line">
            <a:avLst/>
          </a:prstGeom>
          <a:ln w="15240">
            <a:solidFill>
              <a:srgbClr val="404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315968" y="425196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9C4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15968" y="4251960"/>
            <a:ext cx="1417320" cy="256032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70831" y="4279392"/>
            <a:ext cx="1307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70831" y="4562856"/>
            <a:ext cx="1307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B5F9"/>
                </a:solidFill>
              </a:rPr>
              <a:t>:6379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70831" y="4818888"/>
            <a:ext cx="13075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8D8D8"/>
                </a:solidFill>
              </a:rPr>
              <a:t>Cache
In-memory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733288" y="4782312"/>
            <a:ext cx="2130552" cy="0"/>
          </a:xfrm>
          <a:prstGeom prst="line">
            <a:avLst/>
          </a:prstGeom>
          <a:ln w="15240">
            <a:solidFill>
              <a:srgbClr val="404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542032" y="1920240"/>
            <a:ext cx="228600" cy="0"/>
          </a:xfrm>
          <a:prstGeom prst="line">
            <a:avLst/>
          </a:prstGeom>
          <a:ln w="1905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7882127" y="1417320"/>
            <a:ext cx="2057400" cy="4828032"/>
          </a:xfrm>
          <a:prstGeom prst="roundRect">
            <a:avLst>
              <a:gd name="adj" fmla="val 5000"/>
            </a:avLst>
          </a:prstGeom>
          <a:solidFill>
            <a:srgbClr val="12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82127" y="1417320"/>
            <a:ext cx="2057400" cy="347472"/>
          </a:xfrm>
          <a:prstGeom prst="rect">
            <a:avLst/>
          </a:prstGeom>
          <a:solidFill>
            <a:srgbClr val="401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18704" y="1435608"/>
            <a:ext cx="1984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KAFKA  :9092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36992" y="1828800"/>
            <a:ext cx="1947672" cy="274320"/>
          </a:xfrm>
          <a:prstGeom prst="rect">
            <a:avLst/>
          </a:prstGeom>
          <a:solidFill>
            <a:srgbClr val="22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73568" y="1837943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job.created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936992" y="2139696"/>
            <a:ext cx="1947672" cy="274320"/>
          </a:xfrm>
          <a:prstGeom prst="rect">
            <a:avLst/>
          </a:prstGeom>
          <a:solidFill>
            <a:srgbClr val="1A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973568" y="2148839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job.closed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36992" y="2450592"/>
            <a:ext cx="1947672" cy="274320"/>
          </a:xfrm>
          <a:prstGeom prst="rect">
            <a:avLst/>
          </a:prstGeom>
          <a:solidFill>
            <a:srgbClr val="22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973568" y="2459736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job.viewed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36992" y="2761488"/>
            <a:ext cx="1947672" cy="274320"/>
          </a:xfrm>
          <a:prstGeom prst="rect">
            <a:avLst/>
          </a:prstGeom>
          <a:solidFill>
            <a:srgbClr val="1A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973568" y="277063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job.saved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936992" y="3072384"/>
            <a:ext cx="1947672" cy="274320"/>
          </a:xfrm>
          <a:prstGeom prst="rect">
            <a:avLst/>
          </a:prstGeom>
          <a:solidFill>
            <a:srgbClr val="22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973568" y="308152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application.submitted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936992" y="3383280"/>
            <a:ext cx="1947672" cy="274320"/>
          </a:xfrm>
          <a:prstGeom prst="rect">
            <a:avLst/>
          </a:prstGeom>
          <a:solidFill>
            <a:srgbClr val="1A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73568" y="3392424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application.status_updated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36992" y="3694176"/>
            <a:ext cx="1947672" cy="274320"/>
          </a:xfrm>
          <a:prstGeom prst="rect">
            <a:avLst/>
          </a:prstGeom>
          <a:solidFill>
            <a:srgbClr val="22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973568" y="370332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connection.requested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36992" y="4005072"/>
            <a:ext cx="1947672" cy="274320"/>
          </a:xfrm>
          <a:prstGeom prst="rect">
            <a:avLst/>
          </a:prstGeom>
          <a:solidFill>
            <a:srgbClr val="1A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73568" y="4014216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connection.accepted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936992" y="4315968"/>
            <a:ext cx="1947672" cy="274320"/>
          </a:xfrm>
          <a:prstGeom prst="rect">
            <a:avLst/>
          </a:prstGeom>
          <a:solidFill>
            <a:srgbClr val="22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973568" y="432511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message.sent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36992" y="4626864"/>
            <a:ext cx="1947672" cy="274320"/>
          </a:xfrm>
          <a:prstGeom prst="rect">
            <a:avLst/>
          </a:prstGeom>
          <a:solidFill>
            <a:srgbClr val="1A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973568" y="463600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member.created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936992" y="4937760"/>
            <a:ext cx="1947672" cy="274320"/>
          </a:xfrm>
          <a:prstGeom prst="rect">
            <a:avLst/>
          </a:prstGeom>
          <a:solidFill>
            <a:srgbClr val="22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73568" y="4946904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member.updated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936992" y="5248656"/>
            <a:ext cx="1947672" cy="274320"/>
          </a:xfrm>
          <a:prstGeom prst="rect">
            <a:avLst/>
          </a:prstGeom>
          <a:solidFill>
            <a:srgbClr val="1A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973568" y="5257800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profile.viewed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36992" y="5559552"/>
            <a:ext cx="1947672" cy="274320"/>
          </a:xfrm>
          <a:prstGeom prst="rect">
            <a:avLst/>
          </a:prstGeom>
          <a:solidFill>
            <a:srgbClr val="221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973568" y="5568696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ai.requests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936992" y="5870448"/>
            <a:ext cx="1947672" cy="274320"/>
          </a:xfrm>
          <a:prstGeom prst="rect">
            <a:avLst/>
          </a:prstGeom>
          <a:solidFill>
            <a:srgbClr val="1A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973568" y="587959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0B5F9"/>
                </a:solidFill>
              </a:rPr>
              <a:t>ai.results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9939528" y="2194560"/>
            <a:ext cx="137160" cy="0"/>
          </a:xfrm>
          <a:prstGeom prst="line">
            <a:avLst/>
          </a:prstGeom>
          <a:ln w="19050">
            <a:solidFill>
              <a:srgbClr val="408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939528" y="3840480"/>
            <a:ext cx="137160" cy="0"/>
          </a:xfrm>
          <a:prstGeom prst="line">
            <a:avLst/>
          </a:prstGeom>
          <a:ln w="19050">
            <a:solidFill>
              <a:srgbClr val="408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10104120" y="1417320"/>
            <a:ext cx="1965960" cy="1600200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177272" y="1472184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177272" y="1764792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data236 / linkedin_sim / app_db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77272" y="1984248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8D8D8"/>
                </a:solidFill>
              </a:rPr>
              <a:t>members · jobs · applications
connections · processed_events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104120" y="3154680"/>
            <a:ext cx="1965960" cy="1600200"/>
          </a:xfrm>
          <a:prstGeom prst="roundRect">
            <a:avLst>
              <a:gd name="adj" fmla="val 5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177272" y="3209544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177272" y="3502152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analytics / messaging / ai_db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177272" y="3721608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8D8D8"/>
                </a:solidFill>
              </a:rPr>
              <a:t>events · messages · threads
ai_tasks (document store)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104120" y="4864608"/>
            <a:ext cx="1965960" cy="1261872"/>
          </a:xfrm>
          <a:prstGeom prst="roundRect">
            <a:avLst>
              <a:gd name="adj" fmla="val 5000"/>
            </a:avLst>
          </a:prstGeom>
          <a:solidFill>
            <a:srgbClr val="9C4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177272" y="4919472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177272" y="5212080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Cache  :6379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77272" y="5431536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8D8D8"/>
                </a:solidFill>
              </a:rPr>
              <a:t>search: TTL 60s
job: TTL 10s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 · Agent Architecture &amp; Kafka Topic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B5F9"/>
                </a:solidFill>
              </a:rPr>
              <a:t>Hiring Assistant (Supervisor)  ·  Career Coach  ·  Kafka-orchestrated multi-step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B5F9"/>
                </a:solidFill>
              </a:rPr>
              <a:t>DATA 236  ·  LinkedIn Platform  ·  Group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0B5F9"/>
                </a:solidFill>
              </a:rPr>
              <a:t>Spring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143000"/>
            <a:ext cx="11658600" cy="438912"/>
          </a:xfrm>
          <a:prstGeom prst="roundRect">
            <a:avLst>
              <a:gd name="adj" fmla="val 5000"/>
            </a:avLst>
          </a:prstGeom>
          <a:solidFill>
            <a:srgbClr val="150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1704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B5F9"/>
                </a:solidFill>
              </a:rPr>
              <a:t>KAFKA TOPICS: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170432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job.created  ·  job.closed  ·  job.viewed  ·  job.saved  ·  application.submitted  ·  application.status_updated  ·  connection.requested  ·  connection.accepted  ·  message.sent  ·  member.created  ·  member.updated  ·  profile.viewed  ·  ai.requests  ·  ai.results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1755648"/>
            <a:ext cx="1389888" cy="868680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" y="1810512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Recruiter
Selects Job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45920" y="2185415"/>
            <a:ext cx="109728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755648" y="1755648"/>
            <a:ext cx="1389888" cy="868680"/>
          </a:xfrm>
          <a:prstGeom prst="roundRect">
            <a:avLst>
              <a:gd name="adj" fmla="val 5000"/>
            </a:avLst>
          </a:prstGeom>
          <a:solidFill>
            <a:srgbClr val="05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10512" y="1810512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POST
/ai/submit-task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45536" y="2185415"/>
            <a:ext cx="109728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55264" y="1755648"/>
            <a:ext cx="1389888" cy="868680"/>
          </a:xfrm>
          <a:prstGeom prst="roundRect">
            <a:avLst>
              <a:gd name="adj" fmla="val 5000"/>
            </a:avLst>
          </a:prstGeom>
          <a:solidFill>
            <a:srgbClr val="500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1810512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Kafka
ai.requests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45152" y="2185415"/>
            <a:ext cx="109728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0" y="1755648"/>
            <a:ext cx="1389888" cy="868680"/>
          </a:xfrm>
          <a:prstGeom prst="roundRect">
            <a:avLst>
              <a:gd name="adj" fmla="val 5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1810512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AI Worker
Consumer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44768" y="2185415"/>
            <a:ext cx="109728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54496" y="1755648"/>
            <a:ext cx="1389888" cy="868680"/>
          </a:xfrm>
          <a:prstGeom prst="roundRect">
            <a:avLst>
              <a:gd name="adj" fmla="val 5000"/>
            </a:avLst>
          </a:prstGeom>
          <a:solidFill>
            <a:srgbClr val="03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810512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MongoDB
Store Task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44384" y="2185415"/>
            <a:ext cx="109728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54112" y="1755648"/>
            <a:ext cx="1389888" cy="868680"/>
          </a:xfrm>
          <a:prstGeom prst="roundRect">
            <a:avLst>
              <a:gd name="adj" fmla="val 5000"/>
            </a:avLst>
          </a:prstGeom>
          <a:solidFill>
            <a:srgbClr val="8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6" y="1810512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Kafka
ai.results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0" y="2185415"/>
            <a:ext cx="109728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253728" y="1755648"/>
            <a:ext cx="1389888" cy="868680"/>
          </a:xfrm>
          <a:prstGeom prst="roundRect">
            <a:avLst>
              <a:gd name="adj" fmla="val 5000"/>
            </a:avLst>
          </a:prstGeom>
          <a:solidFill>
            <a:srgbClr val="027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1810512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Frontend
SSE 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" y="2743200"/>
            <a:ext cx="1165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0B5F9"/>
                </a:solidFill>
              </a:rPr>
              <a:t>SSE: GET /ai/task-stream/{task_id}  →  real-time step progress pushed to recruiter 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" y="3090672"/>
            <a:ext cx="5760720" cy="3200400"/>
          </a:xfrm>
          <a:prstGeom prst="roundRect">
            <a:avLst>
              <a:gd name="adj" fmla="val 5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3090672"/>
            <a:ext cx="5760720" cy="347472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108960"/>
            <a:ext cx="5504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B5F9"/>
                </a:solidFill>
              </a:rPr>
              <a:t>Hiring Assistant Agent  (Supervisor)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3511296"/>
            <a:ext cx="5559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→  Step 1: parse_resume()  →  extract skills, years of experience, seniority level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3950208"/>
            <a:ext cx="5559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→  Step 2: compute_match_score()  →  70% skills overlap + 30% seniority weighting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4389120"/>
            <a:ext cx="5559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→  Step 3: rank_candidates()  →  sorted top-N shortlist by weighted composite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4828031"/>
            <a:ext cx="5559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→  Step 4: outreach_draft()  →  template-based personalized recruiter message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5266944"/>
            <a:ext cx="5559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→  Step 5: Human-in-Loop  →  recruiter approves / rejects before any action taken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705856"/>
            <a:ext cx="5559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→  Orchestrated via Kafka: ai.requests → worker → ai.results → analytics stored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6208" y="3090672"/>
            <a:ext cx="5760720" cy="3200400"/>
          </a:xfrm>
          <a:prstGeom prst="roundRect">
            <a:avLst>
              <a:gd name="adj" fmla="val 5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3090672"/>
            <a:ext cx="5760720" cy="347472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3108960"/>
            <a:ext cx="5504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B5F9"/>
                </a:solidFill>
              </a:rPr>
              <a:t>Career Coach Agent  (Synchronous FastAPI)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4224" y="3511296"/>
            <a:ext cx="5559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→  Input: member's skills[] + target_role string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4224" y="3950208"/>
            <a:ext cx="5559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→  analyze_career_fit()  →  intersection / union skill gap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4389120"/>
            <a:ext cx="5559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→  Output: skill_match_pct, overall_rating (1–10 scale)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828031"/>
            <a:ext cx="5559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→  matched_skills / missing_skills / bonus_skills lists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64224" y="5266944"/>
            <a:ext cx="5559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→  headline_suggestion  →  personalized LinkedIn tagline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4224" y="5705856"/>
            <a:ext cx="5559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→  suggestions[]  →  prioritized actionable improvement items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5a · JMeter  —  Scenario A: Job Search + Job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B5F9"/>
                </a:solidFill>
              </a:rPr>
              <a:t>100 concurrent users  ·  4 configurations: B / B+S / B+S+K / B+S+K+Other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B5F9"/>
                </a:solidFill>
              </a:rPr>
              <a:t>DATA 236  ·  LinkedIn Platform  ·  Group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0B5F9"/>
                </a:solidFill>
              </a:rPr>
              <a:t>Spring 2025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28600" y="1143000"/>
          <a:ext cx="2852928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209544" y="1143000"/>
          <a:ext cx="2852928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190488" y="1143000"/>
          <a:ext cx="2852928" cy="4389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9171432" y="1143000"/>
          <a:ext cx="2852928" cy="4389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Rectangle 13"/>
          <p:cNvSpPr/>
          <p:nvPr/>
        </p:nvSpPr>
        <p:spPr>
          <a:xfrm>
            <a:off x="228600" y="5650992"/>
            <a:ext cx="117317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56692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FINDINGS  —  Scenario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67842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0B5F9"/>
                </a:solidFill>
              </a:rPr>
              <a:t>Throughput: B=63.5 → B+S=204.7 req/s (3.2× gain)  ·  Latency: 1,289ms → 0.9ms (99.9% drop)  ·  P95: 7,359ms → 2ms  ·  0% error rate all configs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5980176"/>
            <a:ext cx="28346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5980176"/>
            <a:ext cx="64008" cy="6400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66C2"/>
                </a:solidFill>
              </a:rPr>
              <a:t>3.2×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6016752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1B48"/>
                </a:solidFill>
              </a:rPr>
              <a:t>Throughput gain B→B+S (Redis)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82112" y="5980176"/>
            <a:ext cx="28346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82112" y="5980176"/>
            <a:ext cx="64008" cy="6400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66C2"/>
                </a:solidFill>
              </a:rPr>
              <a:t>99.9%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6016752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1B48"/>
                </a:solidFill>
              </a:rPr>
              <a:t>Latency drop: 1,289ms→0.9ms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35624" y="5980176"/>
            <a:ext cx="28346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35624" y="5980176"/>
            <a:ext cx="64008" cy="6400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66C2"/>
                </a:solidFill>
              </a:rPr>
              <a:t>0.9ms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6016752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1B48"/>
                </a:solidFill>
              </a:rPr>
              <a:t>Avg latency with Redis warm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9136" y="5980176"/>
            <a:ext cx="28346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89136" y="5980176"/>
            <a:ext cx="64008" cy="6400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152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66C2"/>
                </a:solidFill>
              </a:rPr>
              <a:t>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04704" y="6016752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1B48"/>
                </a:solidFill>
              </a:rPr>
              <a:t>Error rate — all 4 configs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5b · JMeter  —  Scenario B: Apply Submit  (DB + Kafka)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B5F9"/>
                </a:solidFill>
              </a:rPr>
              <a:t>100 concurrent users  ·  4 configurations: B / B+S / B+S+K / B+S+K+Other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B5F9"/>
                </a:solidFill>
              </a:rPr>
              <a:t>DATA 236  ·  LinkedIn Platform  ·  Group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0B5F9"/>
                </a:solidFill>
              </a:rPr>
              <a:t>Spring 2025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28600" y="1143000"/>
          <a:ext cx="2852928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209544" y="1143000"/>
          <a:ext cx="2852928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190488" y="1143000"/>
          <a:ext cx="2852928" cy="4389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9171432" y="1143000"/>
          <a:ext cx="2852928" cy="4389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Rectangle 13"/>
          <p:cNvSpPr/>
          <p:nvPr/>
        </p:nvSpPr>
        <p:spPr>
          <a:xfrm>
            <a:off x="228600" y="5650992"/>
            <a:ext cx="117317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56692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FINDINGS  —  Scenario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67842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0B5F9"/>
                </a:solidFill>
              </a:rPr>
              <a:t>Throughput stable ~100 req/s (write-bound: DB + Kafka async)  ·  Avg latency 2–5ms  ·  P95 = 4ms  ·  Zero errors across ALL configs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5980176"/>
            <a:ext cx="28346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5980176"/>
            <a:ext cx="64008" cy="6400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7A55"/>
                </a:solidFill>
              </a:rPr>
              <a:t>~100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6016752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1B48"/>
                </a:solidFill>
              </a:rPr>
              <a:t>req/s stable (write-bound)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82112" y="5980176"/>
            <a:ext cx="28346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82112" y="5980176"/>
            <a:ext cx="64008" cy="6400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7A55"/>
                </a:solidFill>
              </a:rPr>
              <a:t>&lt;5ms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6016752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1B48"/>
                </a:solidFill>
              </a:rPr>
              <a:t>Avg latency all configs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35624" y="5980176"/>
            <a:ext cx="28346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35624" y="5980176"/>
            <a:ext cx="64008" cy="6400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7A55"/>
                </a:solidFill>
              </a:rP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6016752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1B48"/>
                </a:solidFill>
              </a:rPr>
              <a:t>Error rate — all 4 configs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9136" y="5980176"/>
            <a:ext cx="28346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89136" y="5980176"/>
            <a:ext cx="64008" cy="6400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152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7A55"/>
                </a:solidFill>
              </a:rPr>
              <a:t>4ms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04704" y="6016752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1B48"/>
                </a:solidFill>
              </a:rPr>
              <a:t>P95 latency — consistent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6 · Database Population  —  Real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B5F9"/>
                </a:solidFill>
              </a:rPr>
              <a:t>Production-scale seed data  ·  All counts from actual database queries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B5F9"/>
                </a:solidFill>
              </a:rPr>
              <a:t>DATA 236  ·  LinkedIn Platform  ·  Group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0B5F9"/>
                </a:solidFill>
              </a:rPr>
              <a:t>Spring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1207008"/>
            <a:ext cx="3749039" cy="2194560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207008"/>
            <a:ext cx="3749039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98448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78,986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Job Postings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70048"/>
            <a:ext cx="3529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0B5F9"/>
                </a:solidFill>
              </a:rPr>
              <a:t>MySQL · data236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62656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FF"/>
                </a:solidFill>
              </a:rPr>
              <a:t>Real listings from
Kaggle LinkedIn dataset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1207008"/>
            <a:ext cx="3749039" cy="2194560"/>
          </a:xfrm>
          <a:prstGeom prst="roundRect">
            <a:avLst>
              <a:gd name="adj" fmla="val 5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207008"/>
            <a:ext cx="3749039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298448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10,000+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8600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70048"/>
            <a:ext cx="3529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0B5F9"/>
                </a:solidFill>
              </a:rPr>
              <a:t>MySQL · linkedin_sim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962656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FF"/>
                </a:solidFill>
              </a:rPr>
              <a:t>Seeded via Kaggle
Resume CSV + Faker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1312" y="1207008"/>
            <a:ext cx="3749039" cy="2194560"/>
          </a:xfrm>
          <a:prstGeom prst="roundRect">
            <a:avLst>
              <a:gd name="adj" fmla="val 5000"/>
            </a:avLst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11312" y="1207008"/>
            <a:ext cx="3749039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298448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2,484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28600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Resume Profiles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670048"/>
            <a:ext cx="3529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0B5F9"/>
                </a:solidFill>
              </a:rPr>
              <a:t>MySQL · linkedin_sim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962656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FF"/>
                </a:solidFill>
              </a:rPr>
              <a:t>Extracted from
Kaggle Resume.csv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" y="3630168"/>
            <a:ext cx="3749039" cy="2194560"/>
          </a:xfrm>
          <a:prstGeom prst="roundRect">
            <a:avLst>
              <a:gd name="adj" fmla="val 5000"/>
            </a:avLst>
          </a:prstGeom>
          <a:solidFill>
            <a:srgbClr val="027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" y="3630168"/>
            <a:ext cx="3749039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21607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09159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Connections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93208"/>
            <a:ext cx="3529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0B5F9"/>
                </a:solidFill>
              </a:rPr>
              <a:t>MySQL · linkedin_conn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85816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FF"/>
                </a:solidFill>
              </a:rPr>
              <a:t>Live connection
graph (test users)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3630168"/>
            <a:ext cx="3749039" cy="2194560"/>
          </a:xfrm>
          <a:prstGeom prst="roundRect">
            <a:avLst>
              <a:gd name="adj" fmla="val 5000"/>
            </a:avLst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630168"/>
            <a:ext cx="3749039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3721607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709159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Kafka Topics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093208"/>
            <a:ext cx="3529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0B5F9"/>
                </a:solidFill>
              </a:rPr>
              <a:t>Confluent Kafka :9092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385816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FF"/>
                </a:solidFill>
              </a:rPr>
              <a:t>Events across all
microservices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11312" y="3630168"/>
            <a:ext cx="3749039" cy="2194560"/>
          </a:xfrm>
          <a:prstGeom prst="roundRect">
            <a:avLst>
              <a:gd name="adj" fmla="val 5000"/>
            </a:avLst>
          </a:prstGeom>
          <a:solidFill>
            <a:srgbClr val="9C4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11312" y="3630168"/>
            <a:ext cx="3749039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3721607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709159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Database Types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093208"/>
            <a:ext cx="3529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0B5F9"/>
                </a:solidFill>
              </a:rPr>
              <a:t>MySQL+MongoDB+Redis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385816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FF"/>
                </a:solidFill>
              </a:rPr>
              <a:t>RDBMS + Document
+ Cache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2362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56687A"/>
                </a:solidFill>
              </a:rPr>
              <a:t>Job postings from Kaggle LinkedIn Job 2023 dataset  ·  Members seeded from Kaggle Resume Dataset  ·  FULLTEXT index on title + description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7 · Tech Stack &amp; Design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B5F9"/>
                </a:solidFill>
              </a:rPr>
              <a:t>How caching, idempotency, and messaging flows support timeliness and scalability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B5F9"/>
                </a:solidFill>
              </a:rPr>
              <a:t>DATA 236  ·  LinkedIn Platform  ·  Group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0B5F9"/>
                </a:solidFill>
              </a:rPr>
              <a:t>Spring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207008"/>
            <a:ext cx="2816352" cy="1810512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207008"/>
            <a:ext cx="2816352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243584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1572768"/>
            <a:ext cx="25968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D8D8"/>
                </a:solidFill>
              </a:rPr>
              <a:t>React 18 + Vite
SSE real-time feeds
Vite proxy — no CORS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8" y="1207008"/>
            <a:ext cx="2816352" cy="1810512"/>
          </a:xfrm>
          <a:prstGeom prst="roundRect">
            <a:avLst>
              <a:gd name="adj" fmla="val 5000"/>
            </a:avLst>
          </a:prstGeom>
          <a:solidFill>
            <a:srgbClr val="0A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18688" y="1207008"/>
            <a:ext cx="2816352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6" y="1243584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Profile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1572768"/>
            <a:ext cx="25968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D8D8"/>
                </a:solidFill>
              </a:rPr>
              <a:t>FastAPI (Python)
JWT HS256 auth
MySQL + Redis cache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207008"/>
            <a:ext cx="2816352" cy="1810512"/>
          </a:xfrm>
          <a:prstGeom prst="roundRect">
            <a:avLst>
              <a:gd name="adj" fmla="val 5000"/>
            </a:avLst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207008"/>
            <a:ext cx="2816352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243584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Job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1572768"/>
            <a:ext cx="25968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D8D8"/>
                </a:solidFill>
              </a:rPr>
              <a:t>Node.js + Express
MySQL FULLTEXT search
Redis 60s / 10s TTL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207008"/>
            <a:ext cx="2816352" cy="1810512"/>
          </a:xfrm>
          <a:prstGeom prst="roundRect">
            <a:avLst>
              <a:gd name="adj" fmla="val 5000"/>
            </a:avLst>
          </a:prstGeom>
          <a:solidFill>
            <a:srgbClr val="0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207008"/>
            <a:ext cx="2816352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1243584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Application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572768"/>
            <a:ext cx="25968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D8D8"/>
                </a:solidFill>
              </a:rPr>
              <a:t>Node.js + Express
Multipart file upload
Kafka fire-and-forget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3145536"/>
            <a:ext cx="2816352" cy="1810512"/>
          </a:xfrm>
          <a:prstGeom prst="roundRect">
            <a:avLst>
              <a:gd name="adj" fmla="val 5000"/>
            </a:avLst>
          </a:prstGeom>
          <a:solidFill>
            <a:srgbClr val="027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3145536"/>
            <a:ext cx="2816352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3182112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Connection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" y="3511296"/>
            <a:ext cx="25968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D8D8"/>
                </a:solidFill>
              </a:rPr>
              <a:t>Node.js + Express
MySQL graph queries
Kafka events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18688" y="3145536"/>
            <a:ext cx="2816352" cy="1810512"/>
          </a:xfrm>
          <a:prstGeom prst="roundRect">
            <a:avLst>
              <a:gd name="adj" fmla="val 5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18688" y="3145536"/>
            <a:ext cx="2816352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28416" y="3182112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Messaging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8416" y="3511296"/>
            <a:ext cx="25968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D8D8"/>
                </a:solidFill>
              </a:rPr>
              <a:t>Node.js + Express
MongoDB + Mongoose
SSE real-time push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145536"/>
            <a:ext cx="2816352" cy="1810512"/>
          </a:xfrm>
          <a:prstGeom prst="roundRect">
            <a:avLst>
              <a:gd name="adj" fmla="val 5000"/>
            </a:avLst>
          </a:prstGeom>
          <a:solidFill>
            <a:srgbClr val="03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8776" y="3145536"/>
            <a:ext cx="2816352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4" y="3182112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Analytics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3511296"/>
            <a:ext cx="25968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D8D8"/>
                </a:solidFill>
              </a:rPr>
              <a:t>Node.js + Express
MongoDB aggregation
Kafka consumer (14 topics)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98864" y="3145536"/>
            <a:ext cx="2816352" cy="1810512"/>
          </a:xfrm>
          <a:prstGeom prst="roundRect">
            <a:avLst>
              <a:gd name="adj" fmla="val 5000"/>
            </a:avLst>
          </a:prstGeom>
          <a:solidFill>
            <a:srgbClr val="9C4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98864" y="3145536"/>
            <a:ext cx="2816352" cy="292608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08592" y="3182112"/>
            <a:ext cx="2596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3511296"/>
            <a:ext cx="25968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D8D8"/>
                </a:solidFill>
              </a:rPr>
              <a:t>FastAPI (Python)
MongoDB task store
Kafka orchestration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5193792"/>
            <a:ext cx="1170432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28600" y="5285232"/>
            <a:ext cx="3840480" cy="1353312"/>
          </a:xfrm>
          <a:prstGeom prst="roundRect">
            <a:avLst>
              <a:gd name="adj" fmla="val 5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8600" y="5285232"/>
            <a:ext cx="3840480" cy="25603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530352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SQL Cache Policy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" y="5596128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• search:{sha256} → TTL 60s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" y="5843016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• job:{uuid} → TTL 10s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" y="6089904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• Invalidate on: update / close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" y="6336792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• 99.9% latency reduction verified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15384" y="5285232"/>
            <a:ext cx="3840480" cy="1353312"/>
          </a:xfrm>
          <a:prstGeom prst="roundRect">
            <a:avLst>
              <a:gd name="adj" fmla="val 5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15384" y="5285232"/>
            <a:ext cx="3840480" cy="256032"/>
          </a:xfrm>
          <a:prstGeom prst="rect">
            <a:avLst/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06824" y="530352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Kafka Idempotency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596128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• processed_events PK dedup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25112" y="5843016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• idempotency_key per envelope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25112" y="6089904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• At-least-once + safe retry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25112" y="6336792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• MongoDB: findOne before insert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02168" y="5285232"/>
            <a:ext cx="3840480" cy="1353312"/>
          </a:xfrm>
          <a:prstGeom prst="roundRect">
            <a:avLst>
              <a:gd name="adj" fmla="val 5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02168" y="5285232"/>
            <a:ext cx="3840480" cy="256032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93608" y="530352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Messaging Flow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1896" y="5596128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• HTTP responds → Kafka async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1896" y="5843016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• SSE push: &lt;100ms delivery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11896" y="6089904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• DB write before Kafka publish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11896" y="6336792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• Job viewed: non-blocking async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8 · Docker Containerization &amp;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B5F9"/>
                </a:solidFill>
              </a:rPr>
              <a:t>Every service ships as an independent Docker image  ·  Orchestrated via docker-compose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B5F9"/>
                </a:solidFill>
              </a:rPr>
              <a:t>DATA 236  ·  LinkedIn Platform  ·  Group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0B5F9"/>
                </a:solidFill>
              </a:rPr>
              <a:t>Spring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170432"/>
            <a:ext cx="2816352" cy="1755648"/>
          </a:xfrm>
          <a:prstGeom prst="roundRect">
            <a:avLst>
              <a:gd name="adj" fmla="val 5000"/>
            </a:avLst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70432"/>
            <a:ext cx="2816352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1207008"/>
            <a:ext cx="2670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profile-service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1790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FROM python:3.11-slim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83080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WORKDIR /app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0482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COPY &amp; RUN 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13432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EXPOSE 8002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578608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CMD uvicorn app.main:app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1170432"/>
            <a:ext cx="2816352" cy="1755648"/>
          </a:xfrm>
          <a:prstGeom prst="roundRect">
            <a:avLst>
              <a:gd name="adj" fmla="val 5000"/>
            </a:avLst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1170432"/>
            <a:ext cx="2816352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1207008"/>
            <a:ext cx="2670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job-service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151790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FROM node:20-alpine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1783080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WORKDIR /app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0482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COPY &amp; RUN install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313432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EXPOSE 3002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2578608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CMD node src/server.js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1170432"/>
            <a:ext cx="2816352" cy="1755648"/>
          </a:xfrm>
          <a:prstGeom prst="roundRect">
            <a:avLst>
              <a:gd name="adj" fmla="val 5000"/>
            </a:avLst>
          </a:prstGeom>
          <a:solidFill>
            <a:srgbClr val="0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8" y="1170432"/>
            <a:ext cx="2816352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207008"/>
            <a:ext cx="2670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app-service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151790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FROM node:20-alpine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1783080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WORKDIR /app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20482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COPY &amp; RUN install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2313432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EXPOSE 5003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2578608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CMD node src/server.js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26296" y="1170432"/>
            <a:ext cx="2816352" cy="1755648"/>
          </a:xfrm>
          <a:prstGeom prst="roundRect">
            <a:avLst>
              <a:gd name="adj" fmla="val 5000"/>
            </a:avLst>
          </a:prstGeom>
          <a:solidFill>
            <a:srgbClr val="027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26296" y="1170432"/>
            <a:ext cx="2816352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9448" y="1207008"/>
            <a:ext cx="2670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connection-svc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151790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FROM node:20-alpine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6024" y="1783080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WORKDIR /app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6024" y="20482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COPY &amp; RUN install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6024" y="2313432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EXPOSE 3005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6024" y="2578608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CMD node server.js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6032" y="3072384"/>
            <a:ext cx="2816352" cy="1755648"/>
          </a:xfrm>
          <a:prstGeom prst="roundRect">
            <a:avLst>
              <a:gd name="adj" fmla="val 5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6032" y="3072384"/>
            <a:ext cx="2816352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3108960"/>
            <a:ext cx="2670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messaging-svc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34198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FROM node:20-alpine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85032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WORKDIR /app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3950208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COPY &amp; RUN install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21538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EXPOSE 3004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480560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CMD node server.js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46120" y="3072384"/>
            <a:ext cx="2816352" cy="1755648"/>
          </a:xfrm>
          <a:prstGeom prst="roundRect">
            <a:avLst>
              <a:gd name="adj" fmla="val 5000"/>
            </a:avLst>
          </a:prstGeom>
          <a:solidFill>
            <a:srgbClr val="03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46120" y="3072384"/>
            <a:ext cx="2816352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19272" y="3108960"/>
            <a:ext cx="2670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analytics-svc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5848" y="34198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FROM node:20-alpine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55848" y="3685032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WORKDIR /app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55848" y="3950208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COPY &amp; RUN install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5848" y="421538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EXPOSE 4000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4480560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CMD node src/server.js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36208" y="3072384"/>
            <a:ext cx="2816352" cy="1755648"/>
          </a:xfrm>
          <a:prstGeom prst="roundRect">
            <a:avLst>
              <a:gd name="adj" fmla="val 5000"/>
            </a:avLst>
          </a:prstGeom>
          <a:solidFill>
            <a:srgbClr val="9C4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36208" y="3072384"/>
            <a:ext cx="2816352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3108960"/>
            <a:ext cx="2670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ai-service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45936" y="34198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FROM python:3.11-slim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45936" y="3685032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WORKDIR /app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45936" y="3950208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COPY &amp; RUN install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45936" y="421538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EXPOSE 8005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45936" y="4480560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CMD uvicorn app.main:app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226296" y="3072384"/>
            <a:ext cx="2816352" cy="1755648"/>
          </a:xfrm>
          <a:prstGeom prst="roundRect">
            <a:avLst>
              <a:gd name="adj" fmla="val 5000"/>
            </a:avLst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226296" y="3072384"/>
            <a:ext cx="2816352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99448" y="3108960"/>
            <a:ext cx="2670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frontend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36024" y="34198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FROM node:20 → nginx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36024" y="3685032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WORKDIR /app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36024" y="3950208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COPY &amp; RUN install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36024" y="421538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EXPOSE 80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36024" y="4480560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8D8D8"/>
                </a:solidFill>
              </a:rPr>
              <a:t>CMD nginx (prod build)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6032" y="5084064"/>
            <a:ext cx="11658600" cy="1444752"/>
          </a:xfrm>
          <a:prstGeom prst="roundRect">
            <a:avLst>
              <a:gd name="adj" fmla="val 5000"/>
            </a:avLst>
          </a:prstGeom>
          <a:solidFill>
            <a:srgbClr val="0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56032" y="5084064"/>
            <a:ext cx="11658600" cy="274320"/>
          </a:xfrm>
          <a:prstGeom prst="rect">
            <a:avLst/>
          </a:prstGeom>
          <a:solidFill>
            <a:srgbClr val="022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" y="51023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B5F9"/>
                </a:solidFill>
              </a:rPr>
              <a:t>  docker-compose.yml  —  Infrastructure Services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54132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Zookeeper  :2181  —  Kafka coordination layer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16552" y="54132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Confluent Kafka  :9092  —  Event streaming broker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21624" y="54132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Kafka UI  :18088  —  Topic &amp; consumer monitoring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581558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MySQL 8.0  :3308  —  Transactional database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16552" y="581558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MongoDB 7.0  :27017  —  Document store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1624" y="581558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Redis 7 Alpine  :6379  —  In-memory cache layer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9 · Timeliness, Caching Policy &amp; Detection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6583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B5F9"/>
                </a:solidFill>
              </a:rPr>
              <a:t>How our design supports scalability, real-time delivery, and data consistency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0B5F9"/>
                </a:solidFill>
              </a:rPr>
              <a:t>DATA 236  ·  LinkedIn Platform  ·  Group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0B5F9"/>
                </a:solidFill>
              </a:rPr>
              <a:t>Spring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170432"/>
            <a:ext cx="384048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70432"/>
            <a:ext cx="384048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18872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SQL Caching Policy  (Redis)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09344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Search results: cached by sha256(query params), TTL = 60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32257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Single job fetch: cached by job_id, TTL = 10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035808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Cache key format:  search:{sha256}  /  job:{uuid}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749039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Invalidation: job update or close flushes the key immediately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46227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Impact: 99.9% latency reduction (1,289ms → 0.9ms),  3.2× TPS 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175504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Redis 7 Alpine — sub-millisecond memory lookups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1104" y="1170432"/>
            <a:ext cx="384048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1104" y="1170432"/>
            <a:ext cx="3840480" cy="347472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118872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Messaging Flow &amp; Timeliness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609344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Kafka fire-and-forget: HTTP response immediate, events async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32257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message.sent → SSE EventSource → real-time to recipient browser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035808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application.submitted → job-service updates applicants_count async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749039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job.viewed → view counter incremented without blocking HTTP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46227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ai.requests → worker → ai.results → analytics stored in MongoDB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175504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SSE streams use EventEmitter in-process bus for sub-100ms delivery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6175" y="1170432"/>
            <a:ext cx="384048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66175" y="1170432"/>
            <a:ext cx="3840480" cy="347472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5" y="118872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Detection Rules &amp; Idempotency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1609344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Kafka at-least-once: duplicate events WILL arrive — handled safely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232257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MySQL processed_events: idempotency_key PRIMARY KEY deduplicates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3035808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MongoDB analytics: findOne({idempotency_key}) before every insert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3749039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UUID v4 idempotency_key in every Kafka event envelope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446227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JWT expiry validated on every authenticated request (HMAC-SHA256)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5175504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Role enforcement: member vs recruiter checked per-route, 403 on fail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